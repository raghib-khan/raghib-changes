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9" r:id="rId3"/>
    <p:sldId id="275" r:id="rId4"/>
    <p:sldId id="276" r:id="rId5"/>
    <p:sldId id="260" r:id="rId6"/>
    <p:sldId id="257" r:id="rId7"/>
    <p:sldId id="315" r:id="rId8"/>
    <p:sldId id="316" r:id="rId9"/>
    <p:sldId id="317" r:id="rId10"/>
    <p:sldId id="318" r:id="rId11"/>
    <p:sldId id="319" r:id="rId12"/>
    <p:sldId id="320" r:id="rId13"/>
    <p:sldId id="346" r:id="rId14"/>
    <p:sldId id="321" r:id="rId15"/>
    <p:sldId id="322" r:id="rId16"/>
    <p:sldId id="348" r:id="rId17"/>
    <p:sldId id="342" r:id="rId18"/>
    <p:sldId id="323" r:id="rId19"/>
    <p:sldId id="324" r:id="rId20"/>
    <p:sldId id="347" r:id="rId21"/>
    <p:sldId id="343" r:id="rId22"/>
    <p:sldId id="325" r:id="rId23"/>
    <p:sldId id="326" r:id="rId24"/>
    <p:sldId id="327" r:id="rId25"/>
    <p:sldId id="328" r:id="rId26"/>
    <p:sldId id="354" r:id="rId27"/>
    <p:sldId id="329" r:id="rId28"/>
    <p:sldId id="349" r:id="rId29"/>
    <p:sldId id="330" r:id="rId30"/>
    <p:sldId id="344" r:id="rId31"/>
    <p:sldId id="331" r:id="rId32"/>
    <p:sldId id="352" r:id="rId33"/>
    <p:sldId id="353" r:id="rId34"/>
    <p:sldId id="332" r:id="rId35"/>
    <p:sldId id="333" r:id="rId36"/>
    <p:sldId id="345" r:id="rId37"/>
    <p:sldId id="334" r:id="rId38"/>
    <p:sldId id="355" r:id="rId39"/>
    <p:sldId id="335" r:id="rId40"/>
    <p:sldId id="356" r:id="rId41"/>
    <p:sldId id="358" r:id="rId42"/>
    <p:sldId id="336" r:id="rId43"/>
    <p:sldId id="341" r:id="rId44"/>
    <p:sldId id="338" r:id="rId45"/>
    <p:sldId id="357" r:id="rId46"/>
    <p:sldId id="339" r:id="rId47"/>
    <p:sldId id="340" r:id="rId48"/>
    <p:sldId id="359" r:id="rId49"/>
    <p:sldId id="350" r:id="rId50"/>
    <p:sldId id="351" r:id="rId51"/>
    <p:sldId id="274" r:id="rId5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E81B5A-1A19-4E6D-B1E1-EA3F50CC542E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PK"/>
        </a:p>
      </dgm:t>
    </dgm:pt>
    <dgm:pt modelId="{1B8264AB-9C3F-4F1D-9461-1CCA27EA793E}">
      <dgm:prSet phldrT="[Text]" phldr="0"/>
      <dgm:spPr/>
      <dgm:t>
        <a:bodyPr/>
        <a:lstStyle/>
        <a:p>
          <a:r>
            <a:rPr lang="en-US" b="1" dirty="0" err="1"/>
            <a:t>cout</a:t>
          </a:r>
          <a:endParaRPr lang="en-PK" b="1" dirty="0"/>
        </a:p>
      </dgm:t>
    </dgm:pt>
    <dgm:pt modelId="{392D244D-67A7-44F7-B681-2748D0280427}" type="parTrans" cxnId="{128263B8-5E64-4ADE-B147-0B727DCB574F}">
      <dgm:prSet/>
      <dgm:spPr/>
      <dgm:t>
        <a:bodyPr/>
        <a:lstStyle/>
        <a:p>
          <a:endParaRPr lang="en-PK"/>
        </a:p>
      </dgm:t>
    </dgm:pt>
    <dgm:pt modelId="{BD0FB89C-9832-495E-9FCF-548F973D9675}" type="sibTrans" cxnId="{128263B8-5E64-4ADE-B147-0B727DCB574F}">
      <dgm:prSet/>
      <dgm:spPr/>
      <dgm:t>
        <a:bodyPr/>
        <a:lstStyle/>
        <a:p>
          <a:endParaRPr lang="en-PK"/>
        </a:p>
      </dgm:t>
    </dgm:pt>
    <dgm:pt modelId="{EA4B0D88-F69E-4545-BE44-FD0D1A0CDBFA}">
      <dgm:prSet phldrT="[Text]" phldr="0"/>
      <dgm:spPr/>
      <dgm:t>
        <a:bodyPr/>
        <a:lstStyle/>
        <a:p>
          <a:r>
            <a:rPr lang="en-US" b="1" dirty="0"/>
            <a:t>&lt;&lt;</a:t>
          </a:r>
          <a:endParaRPr lang="en-PK" b="1" dirty="0"/>
        </a:p>
      </dgm:t>
    </dgm:pt>
    <dgm:pt modelId="{A53F1071-1076-48EA-AA32-CEEB1B1931A9}" type="parTrans" cxnId="{0E39C122-96F8-44C1-BACB-A04FF9F987D0}">
      <dgm:prSet/>
      <dgm:spPr/>
      <dgm:t>
        <a:bodyPr/>
        <a:lstStyle/>
        <a:p>
          <a:endParaRPr lang="en-PK"/>
        </a:p>
      </dgm:t>
    </dgm:pt>
    <dgm:pt modelId="{6DEA7E7C-E80A-4672-9971-1A1C7372D7AD}" type="sibTrans" cxnId="{0E39C122-96F8-44C1-BACB-A04FF9F987D0}">
      <dgm:prSet/>
      <dgm:spPr/>
      <dgm:t>
        <a:bodyPr/>
        <a:lstStyle/>
        <a:p>
          <a:endParaRPr lang="en-PK"/>
        </a:p>
      </dgm:t>
    </dgm:pt>
    <dgm:pt modelId="{423C6E87-06F3-4622-A620-D32E3E74AB4A}">
      <dgm:prSet phldrT="[Text]" phldr="0"/>
      <dgm:spPr/>
      <dgm:t>
        <a:bodyPr/>
        <a:lstStyle/>
        <a:p>
          <a:r>
            <a:rPr lang="en-US" b="1" dirty="0"/>
            <a:t>variable</a:t>
          </a:r>
          <a:endParaRPr lang="en-PK" b="1" dirty="0"/>
        </a:p>
      </dgm:t>
    </dgm:pt>
    <dgm:pt modelId="{C1C55C8B-2E9C-4A57-9BBF-222AE03DEEE9}" type="parTrans" cxnId="{E230DD15-1F37-4BE1-91F9-2789C011ADB3}">
      <dgm:prSet/>
      <dgm:spPr/>
      <dgm:t>
        <a:bodyPr/>
        <a:lstStyle/>
        <a:p>
          <a:endParaRPr lang="en-PK"/>
        </a:p>
      </dgm:t>
    </dgm:pt>
    <dgm:pt modelId="{A64DDF64-8AD4-4AFF-870A-1E7ACB0FEF1B}" type="sibTrans" cxnId="{E230DD15-1F37-4BE1-91F9-2789C011ADB3}">
      <dgm:prSet/>
      <dgm:spPr/>
      <dgm:t>
        <a:bodyPr/>
        <a:lstStyle/>
        <a:p>
          <a:endParaRPr lang="en-PK"/>
        </a:p>
      </dgm:t>
    </dgm:pt>
    <dgm:pt modelId="{E5793325-D280-4888-8447-44EB5AE1DD7E}">
      <dgm:prSet/>
      <dgm:spPr/>
      <dgm:t>
        <a:bodyPr/>
        <a:lstStyle/>
        <a:p>
          <a:endParaRPr lang="en-PK"/>
        </a:p>
      </dgm:t>
    </dgm:pt>
    <dgm:pt modelId="{A39E91CA-A3BF-4231-9C0F-C30C9AD30230}" type="parTrans" cxnId="{51B199CB-710F-4FB7-B91A-46E83DE5CA07}">
      <dgm:prSet/>
      <dgm:spPr/>
      <dgm:t>
        <a:bodyPr/>
        <a:lstStyle/>
        <a:p>
          <a:endParaRPr lang="en-PK"/>
        </a:p>
      </dgm:t>
    </dgm:pt>
    <dgm:pt modelId="{42426173-FB36-47CC-B4BB-4838AE8B0EE8}" type="sibTrans" cxnId="{51B199CB-710F-4FB7-B91A-46E83DE5CA07}">
      <dgm:prSet/>
      <dgm:spPr/>
      <dgm:t>
        <a:bodyPr/>
        <a:lstStyle/>
        <a:p>
          <a:endParaRPr lang="en-PK"/>
        </a:p>
      </dgm:t>
    </dgm:pt>
    <dgm:pt modelId="{A24330E5-3819-4389-863E-298868A0B544}" type="pres">
      <dgm:prSet presAssocID="{23E81B5A-1A19-4E6D-B1E1-EA3F50CC542E}" presName="Name0" presStyleCnt="0">
        <dgm:presLayoutVars>
          <dgm:dir/>
          <dgm:resizeHandles val="exact"/>
        </dgm:presLayoutVars>
      </dgm:prSet>
      <dgm:spPr/>
    </dgm:pt>
    <dgm:pt modelId="{6A3B0DE4-1119-4E42-BF43-3FFB7CE0A508}" type="pres">
      <dgm:prSet presAssocID="{E5793325-D280-4888-8447-44EB5AE1DD7E}" presName="node" presStyleLbl="node1" presStyleIdx="0" presStyleCnt="4">
        <dgm:presLayoutVars>
          <dgm:bulletEnabled val="1"/>
        </dgm:presLayoutVars>
      </dgm:prSet>
      <dgm:spPr/>
    </dgm:pt>
    <dgm:pt modelId="{5DF2CD80-534D-44DF-93A0-686AF7B952A9}" type="pres">
      <dgm:prSet presAssocID="{42426173-FB36-47CC-B4BB-4838AE8B0EE8}" presName="sibTrans" presStyleLbl="sibTrans2D1" presStyleIdx="0" presStyleCnt="3" custAng="10800000"/>
      <dgm:spPr/>
    </dgm:pt>
    <dgm:pt modelId="{ED6089B4-27AF-4A02-AC7A-B8783CF8B31F}" type="pres">
      <dgm:prSet presAssocID="{42426173-FB36-47CC-B4BB-4838AE8B0EE8}" presName="connectorText" presStyleLbl="sibTrans2D1" presStyleIdx="0" presStyleCnt="3"/>
      <dgm:spPr/>
    </dgm:pt>
    <dgm:pt modelId="{F7978639-8078-40CA-A569-0EB89CC64D9B}" type="pres">
      <dgm:prSet presAssocID="{1B8264AB-9C3F-4F1D-9461-1CCA27EA793E}" presName="node" presStyleLbl="node1" presStyleIdx="1" presStyleCnt="4">
        <dgm:presLayoutVars>
          <dgm:bulletEnabled val="1"/>
        </dgm:presLayoutVars>
      </dgm:prSet>
      <dgm:spPr/>
    </dgm:pt>
    <dgm:pt modelId="{ABA4C7CB-D8AF-4DDC-8A6E-11B4658E700D}" type="pres">
      <dgm:prSet presAssocID="{BD0FB89C-9832-495E-9FCF-548F973D9675}" presName="sibTrans" presStyleLbl="sibTrans2D1" presStyleIdx="1" presStyleCnt="3" custAng="10800000"/>
      <dgm:spPr/>
    </dgm:pt>
    <dgm:pt modelId="{0AF499E0-D06E-4934-B5BB-5A56903CBC29}" type="pres">
      <dgm:prSet presAssocID="{BD0FB89C-9832-495E-9FCF-548F973D9675}" presName="connectorText" presStyleLbl="sibTrans2D1" presStyleIdx="1" presStyleCnt="3"/>
      <dgm:spPr/>
    </dgm:pt>
    <dgm:pt modelId="{E50B25F1-11B2-4709-A8D4-3A57BD21294E}" type="pres">
      <dgm:prSet presAssocID="{EA4B0D88-F69E-4545-BE44-FD0D1A0CDBFA}" presName="node" presStyleLbl="node1" presStyleIdx="2" presStyleCnt="4">
        <dgm:presLayoutVars>
          <dgm:bulletEnabled val="1"/>
        </dgm:presLayoutVars>
      </dgm:prSet>
      <dgm:spPr/>
    </dgm:pt>
    <dgm:pt modelId="{0C3F972A-6393-4934-B34E-152E2C615FB8}" type="pres">
      <dgm:prSet presAssocID="{6DEA7E7C-E80A-4672-9971-1A1C7372D7AD}" presName="sibTrans" presStyleLbl="sibTrans2D1" presStyleIdx="2" presStyleCnt="3" custAng="10800000"/>
      <dgm:spPr/>
    </dgm:pt>
    <dgm:pt modelId="{E7700C43-FED6-4980-9C2B-656B1A83365E}" type="pres">
      <dgm:prSet presAssocID="{6DEA7E7C-E80A-4672-9971-1A1C7372D7AD}" presName="connectorText" presStyleLbl="sibTrans2D1" presStyleIdx="2" presStyleCnt="3"/>
      <dgm:spPr/>
    </dgm:pt>
    <dgm:pt modelId="{426D26ED-D590-4539-9A2C-59AAF3C04FEA}" type="pres">
      <dgm:prSet presAssocID="{423C6E87-06F3-4622-A620-D32E3E74AB4A}" presName="node" presStyleLbl="node1" presStyleIdx="3" presStyleCnt="4">
        <dgm:presLayoutVars>
          <dgm:bulletEnabled val="1"/>
        </dgm:presLayoutVars>
      </dgm:prSet>
      <dgm:spPr/>
    </dgm:pt>
  </dgm:ptLst>
  <dgm:cxnLst>
    <dgm:cxn modelId="{D67E4901-AB8A-4CC6-AAEF-E514C5720760}" type="presOf" srcId="{1B8264AB-9C3F-4F1D-9461-1CCA27EA793E}" destId="{F7978639-8078-40CA-A569-0EB89CC64D9B}" srcOrd="0" destOrd="0" presId="urn:microsoft.com/office/officeart/2005/8/layout/process1"/>
    <dgm:cxn modelId="{E230DD15-1F37-4BE1-91F9-2789C011ADB3}" srcId="{23E81B5A-1A19-4E6D-B1E1-EA3F50CC542E}" destId="{423C6E87-06F3-4622-A620-D32E3E74AB4A}" srcOrd="3" destOrd="0" parTransId="{C1C55C8B-2E9C-4A57-9BBF-222AE03DEEE9}" sibTransId="{A64DDF64-8AD4-4AFF-870A-1E7ACB0FEF1B}"/>
    <dgm:cxn modelId="{0E39C122-96F8-44C1-BACB-A04FF9F987D0}" srcId="{23E81B5A-1A19-4E6D-B1E1-EA3F50CC542E}" destId="{EA4B0D88-F69E-4545-BE44-FD0D1A0CDBFA}" srcOrd="2" destOrd="0" parTransId="{A53F1071-1076-48EA-AA32-CEEB1B1931A9}" sibTransId="{6DEA7E7C-E80A-4672-9971-1A1C7372D7AD}"/>
    <dgm:cxn modelId="{ECB40E2D-67AC-44A6-A9D7-3C957B009E06}" type="presOf" srcId="{BD0FB89C-9832-495E-9FCF-548F973D9675}" destId="{ABA4C7CB-D8AF-4DDC-8A6E-11B4658E700D}" srcOrd="0" destOrd="0" presId="urn:microsoft.com/office/officeart/2005/8/layout/process1"/>
    <dgm:cxn modelId="{40AB6540-E253-4727-912B-5C746352D958}" type="presOf" srcId="{423C6E87-06F3-4622-A620-D32E3E74AB4A}" destId="{426D26ED-D590-4539-9A2C-59AAF3C04FEA}" srcOrd="0" destOrd="0" presId="urn:microsoft.com/office/officeart/2005/8/layout/process1"/>
    <dgm:cxn modelId="{1E16065D-ED6E-4060-B674-02A13F326EEA}" type="presOf" srcId="{6DEA7E7C-E80A-4672-9971-1A1C7372D7AD}" destId="{E7700C43-FED6-4980-9C2B-656B1A83365E}" srcOrd="1" destOrd="0" presId="urn:microsoft.com/office/officeart/2005/8/layout/process1"/>
    <dgm:cxn modelId="{52B5B85F-AF4D-4798-BC0A-1C5D06CE4917}" type="presOf" srcId="{23E81B5A-1A19-4E6D-B1E1-EA3F50CC542E}" destId="{A24330E5-3819-4389-863E-298868A0B544}" srcOrd="0" destOrd="0" presId="urn:microsoft.com/office/officeart/2005/8/layout/process1"/>
    <dgm:cxn modelId="{3511DF47-79D2-4C4B-B122-9A992D029135}" type="presOf" srcId="{EA4B0D88-F69E-4545-BE44-FD0D1A0CDBFA}" destId="{E50B25F1-11B2-4709-A8D4-3A57BD21294E}" srcOrd="0" destOrd="0" presId="urn:microsoft.com/office/officeart/2005/8/layout/process1"/>
    <dgm:cxn modelId="{2BF05F6F-AEFD-4B12-BD66-0342C3169906}" type="presOf" srcId="{42426173-FB36-47CC-B4BB-4838AE8B0EE8}" destId="{ED6089B4-27AF-4A02-AC7A-B8783CF8B31F}" srcOrd="1" destOrd="0" presId="urn:microsoft.com/office/officeart/2005/8/layout/process1"/>
    <dgm:cxn modelId="{128263B8-5E64-4ADE-B147-0B727DCB574F}" srcId="{23E81B5A-1A19-4E6D-B1E1-EA3F50CC542E}" destId="{1B8264AB-9C3F-4F1D-9461-1CCA27EA793E}" srcOrd="1" destOrd="0" parTransId="{392D244D-67A7-44F7-B681-2748D0280427}" sibTransId="{BD0FB89C-9832-495E-9FCF-548F973D9675}"/>
    <dgm:cxn modelId="{4AE792C8-DBE3-492E-AE4A-558189C31932}" type="presOf" srcId="{E5793325-D280-4888-8447-44EB5AE1DD7E}" destId="{6A3B0DE4-1119-4E42-BF43-3FFB7CE0A508}" srcOrd="0" destOrd="0" presId="urn:microsoft.com/office/officeart/2005/8/layout/process1"/>
    <dgm:cxn modelId="{51B199CB-710F-4FB7-B91A-46E83DE5CA07}" srcId="{23E81B5A-1A19-4E6D-B1E1-EA3F50CC542E}" destId="{E5793325-D280-4888-8447-44EB5AE1DD7E}" srcOrd="0" destOrd="0" parTransId="{A39E91CA-A3BF-4231-9C0F-C30C9AD30230}" sibTransId="{42426173-FB36-47CC-B4BB-4838AE8B0EE8}"/>
    <dgm:cxn modelId="{66F109D4-D79E-49C7-9737-8E6737EF5E3F}" type="presOf" srcId="{6DEA7E7C-E80A-4672-9971-1A1C7372D7AD}" destId="{0C3F972A-6393-4934-B34E-152E2C615FB8}" srcOrd="0" destOrd="0" presId="urn:microsoft.com/office/officeart/2005/8/layout/process1"/>
    <dgm:cxn modelId="{B1A45CD6-10F1-443A-B5E6-ED0F116DC505}" type="presOf" srcId="{BD0FB89C-9832-495E-9FCF-548F973D9675}" destId="{0AF499E0-D06E-4934-B5BB-5A56903CBC29}" srcOrd="1" destOrd="0" presId="urn:microsoft.com/office/officeart/2005/8/layout/process1"/>
    <dgm:cxn modelId="{442443F0-0319-4A17-82DC-CC929041470B}" type="presOf" srcId="{42426173-FB36-47CC-B4BB-4838AE8B0EE8}" destId="{5DF2CD80-534D-44DF-93A0-686AF7B952A9}" srcOrd="0" destOrd="0" presId="urn:microsoft.com/office/officeart/2005/8/layout/process1"/>
    <dgm:cxn modelId="{1DF213C9-B4BE-40E3-AB95-73D2A485D00B}" type="presParOf" srcId="{A24330E5-3819-4389-863E-298868A0B544}" destId="{6A3B0DE4-1119-4E42-BF43-3FFB7CE0A508}" srcOrd="0" destOrd="0" presId="urn:microsoft.com/office/officeart/2005/8/layout/process1"/>
    <dgm:cxn modelId="{9772D2F9-1876-49CE-BD22-C1D2CDB9CDCD}" type="presParOf" srcId="{A24330E5-3819-4389-863E-298868A0B544}" destId="{5DF2CD80-534D-44DF-93A0-686AF7B952A9}" srcOrd="1" destOrd="0" presId="urn:microsoft.com/office/officeart/2005/8/layout/process1"/>
    <dgm:cxn modelId="{50136110-1C0B-4541-B86E-48C62A1EA31F}" type="presParOf" srcId="{5DF2CD80-534D-44DF-93A0-686AF7B952A9}" destId="{ED6089B4-27AF-4A02-AC7A-B8783CF8B31F}" srcOrd="0" destOrd="0" presId="urn:microsoft.com/office/officeart/2005/8/layout/process1"/>
    <dgm:cxn modelId="{AECCA4C9-C4F8-4A20-B29A-2808B8599D6E}" type="presParOf" srcId="{A24330E5-3819-4389-863E-298868A0B544}" destId="{F7978639-8078-40CA-A569-0EB89CC64D9B}" srcOrd="2" destOrd="0" presId="urn:microsoft.com/office/officeart/2005/8/layout/process1"/>
    <dgm:cxn modelId="{3568AD7F-5C90-419E-A4F1-2F609CD06230}" type="presParOf" srcId="{A24330E5-3819-4389-863E-298868A0B544}" destId="{ABA4C7CB-D8AF-4DDC-8A6E-11B4658E700D}" srcOrd="3" destOrd="0" presId="urn:microsoft.com/office/officeart/2005/8/layout/process1"/>
    <dgm:cxn modelId="{10735DBC-AAF9-4ADB-8180-BCF05F781E08}" type="presParOf" srcId="{ABA4C7CB-D8AF-4DDC-8A6E-11B4658E700D}" destId="{0AF499E0-D06E-4934-B5BB-5A56903CBC29}" srcOrd="0" destOrd="0" presId="urn:microsoft.com/office/officeart/2005/8/layout/process1"/>
    <dgm:cxn modelId="{08435C63-AB15-4236-9382-610F7CAA9ED2}" type="presParOf" srcId="{A24330E5-3819-4389-863E-298868A0B544}" destId="{E50B25F1-11B2-4709-A8D4-3A57BD21294E}" srcOrd="4" destOrd="0" presId="urn:microsoft.com/office/officeart/2005/8/layout/process1"/>
    <dgm:cxn modelId="{D774DD14-DBE7-4BF5-B080-70CA4752E742}" type="presParOf" srcId="{A24330E5-3819-4389-863E-298868A0B544}" destId="{0C3F972A-6393-4934-B34E-152E2C615FB8}" srcOrd="5" destOrd="0" presId="urn:microsoft.com/office/officeart/2005/8/layout/process1"/>
    <dgm:cxn modelId="{4BBC5677-C215-4A74-9030-3111C8A73170}" type="presParOf" srcId="{0C3F972A-6393-4934-B34E-152E2C615FB8}" destId="{E7700C43-FED6-4980-9C2B-656B1A83365E}" srcOrd="0" destOrd="0" presId="urn:microsoft.com/office/officeart/2005/8/layout/process1"/>
    <dgm:cxn modelId="{F524409B-BDA2-41EE-B144-716ED876F00A}" type="presParOf" srcId="{A24330E5-3819-4389-863E-298868A0B544}" destId="{426D26ED-D590-4539-9A2C-59AAF3C04FE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E81B5A-1A19-4E6D-B1E1-EA3F50CC542E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PK"/>
        </a:p>
      </dgm:t>
    </dgm:pt>
    <dgm:pt modelId="{1B8264AB-9C3F-4F1D-9461-1CCA27EA793E}">
      <dgm:prSet phldrT="[Text]" phldr="0"/>
      <dgm:spPr/>
      <dgm:t>
        <a:bodyPr/>
        <a:lstStyle/>
        <a:p>
          <a:r>
            <a:rPr lang="en-US" b="1" dirty="0" err="1"/>
            <a:t>cin</a:t>
          </a:r>
          <a:endParaRPr lang="en-PK" b="1" dirty="0"/>
        </a:p>
      </dgm:t>
    </dgm:pt>
    <dgm:pt modelId="{392D244D-67A7-44F7-B681-2748D0280427}" type="parTrans" cxnId="{128263B8-5E64-4ADE-B147-0B727DCB574F}">
      <dgm:prSet/>
      <dgm:spPr/>
      <dgm:t>
        <a:bodyPr/>
        <a:lstStyle/>
        <a:p>
          <a:endParaRPr lang="en-PK"/>
        </a:p>
      </dgm:t>
    </dgm:pt>
    <dgm:pt modelId="{BD0FB89C-9832-495E-9FCF-548F973D9675}" type="sibTrans" cxnId="{128263B8-5E64-4ADE-B147-0B727DCB574F}">
      <dgm:prSet/>
      <dgm:spPr/>
      <dgm:t>
        <a:bodyPr/>
        <a:lstStyle/>
        <a:p>
          <a:endParaRPr lang="en-PK"/>
        </a:p>
      </dgm:t>
    </dgm:pt>
    <dgm:pt modelId="{EA4B0D88-F69E-4545-BE44-FD0D1A0CDBFA}">
      <dgm:prSet phldrT="[Text]" phldr="0"/>
      <dgm:spPr/>
      <dgm:t>
        <a:bodyPr/>
        <a:lstStyle/>
        <a:p>
          <a:r>
            <a:rPr lang="en-US" b="1" dirty="0"/>
            <a:t>&gt;&gt;</a:t>
          </a:r>
          <a:endParaRPr lang="en-PK" b="1" dirty="0"/>
        </a:p>
      </dgm:t>
    </dgm:pt>
    <dgm:pt modelId="{A53F1071-1076-48EA-AA32-CEEB1B1931A9}" type="parTrans" cxnId="{0E39C122-96F8-44C1-BACB-A04FF9F987D0}">
      <dgm:prSet/>
      <dgm:spPr/>
      <dgm:t>
        <a:bodyPr/>
        <a:lstStyle/>
        <a:p>
          <a:endParaRPr lang="en-PK"/>
        </a:p>
      </dgm:t>
    </dgm:pt>
    <dgm:pt modelId="{6DEA7E7C-E80A-4672-9971-1A1C7372D7AD}" type="sibTrans" cxnId="{0E39C122-96F8-44C1-BACB-A04FF9F987D0}">
      <dgm:prSet/>
      <dgm:spPr/>
      <dgm:t>
        <a:bodyPr/>
        <a:lstStyle/>
        <a:p>
          <a:endParaRPr lang="en-PK" dirty="0"/>
        </a:p>
      </dgm:t>
    </dgm:pt>
    <dgm:pt modelId="{423C6E87-06F3-4622-A620-D32E3E74AB4A}">
      <dgm:prSet phldrT="[Text]" phldr="0"/>
      <dgm:spPr/>
      <dgm:t>
        <a:bodyPr/>
        <a:lstStyle/>
        <a:p>
          <a:r>
            <a:rPr lang="en-US" b="1" dirty="0"/>
            <a:t>variable</a:t>
          </a:r>
          <a:endParaRPr lang="en-PK" b="1" dirty="0"/>
        </a:p>
      </dgm:t>
    </dgm:pt>
    <dgm:pt modelId="{C1C55C8B-2E9C-4A57-9BBF-222AE03DEEE9}" type="parTrans" cxnId="{E230DD15-1F37-4BE1-91F9-2789C011ADB3}">
      <dgm:prSet/>
      <dgm:spPr/>
      <dgm:t>
        <a:bodyPr/>
        <a:lstStyle/>
        <a:p>
          <a:endParaRPr lang="en-PK"/>
        </a:p>
      </dgm:t>
    </dgm:pt>
    <dgm:pt modelId="{A64DDF64-8AD4-4AFF-870A-1E7ACB0FEF1B}" type="sibTrans" cxnId="{E230DD15-1F37-4BE1-91F9-2789C011ADB3}">
      <dgm:prSet/>
      <dgm:spPr/>
      <dgm:t>
        <a:bodyPr/>
        <a:lstStyle/>
        <a:p>
          <a:endParaRPr lang="en-PK"/>
        </a:p>
      </dgm:t>
    </dgm:pt>
    <dgm:pt modelId="{E5793325-D280-4888-8447-44EB5AE1DD7E}">
      <dgm:prSet/>
      <dgm:spPr/>
      <dgm:t>
        <a:bodyPr/>
        <a:lstStyle/>
        <a:p>
          <a:endParaRPr lang="en-PK"/>
        </a:p>
      </dgm:t>
    </dgm:pt>
    <dgm:pt modelId="{A39E91CA-A3BF-4231-9C0F-C30C9AD30230}" type="parTrans" cxnId="{51B199CB-710F-4FB7-B91A-46E83DE5CA07}">
      <dgm:prSet/>
      <dgm:spPr/>
      <dgm:t>
        <a:bodyPr/>
        <a:lstStyle/>
        <a:p>
          <a:endParaRPr lang="en-PK"/>
        </a:p>
      </dgm:t>
    </dgm:pt>
    <dgm:pt modelId="{42426173-FB36-47CC-B4BB-4838AE8B0EE8}" type="sibTrans" cxnId="{51B199CB-710F-4FB7-B91A-46E83DE5CA07}">
      <dgm:prSet/>
      <dgm:spPr/>
      <dgm:t>
        <a:bodyPr/>
        <a:lstStyle/>
        <a:p>
          <a:endParaRPr lang="en-PK"/>
        </a:p>
      </dgm:t>
    </dgm:pt>
    <dgm:pt modelId="{A24330E5-3819-4389-863E-298868A0B544}" type="pres">
      <dgm:prSet presAssocID="{23E81B5A-1A19-4E6D-B1E1-EA3F50CC542E}" presName="Name0" presStyleCnt="0">
        <dgm:presLayoutVars>
          <dgm:dir/>
          <dgm:resizeHandles val="exact"/>
        </dgm:presLayoutVars>
      </dgm:prSet>
      <dgm:spPr/>
    </dgm:pt>
    <dgm:pt modelId="{6A3B0DE4-1119-4E42-BF43-3FFB7CE0A508}" type="pres">
      <dgm:prSet presAssocID="{E5793325-D280-4888-8447-44EB5AE1DD7E}" presName="node" presStyleLbl="node1" presStyleIdx="0" presStyleCnt="4">
        <dgm:presLayoutVars>
          <dgm:bulletEnabled val="1"/>
        </dgm:presLayoutVars>
      </dgm:prSet>
      <dgm:spPr/>
    </dgm:pt>
    <dgm:pt modelId="{5DF2CD80-534D-44DF-93A0-686AF7B952A9}" type="pres">
      <dgm:prSet presAssocID="{42426173-FB36-47CC-B4BB-4838AE8B0EE8}" presName="sibTrans" presStyleLbl="sibTrans2D1" presStyleIdx="0" presStyleCnt="3" custAng="0"/>
      <dgm:spPr/>
    </dgm:pt>
    <dgm:pt modelId="{ED6089B4-27AF-4A02-AC7A-B8783CF8B31F}" type="pres">
      <dgm:prSet presAssocID="{42426173-FB36-47CC-B4BB-4838AE8B0EE8}" presName="connectorText" presStyleLbl="sibTrans2D1" presStyleIdx="0" presStyleCnt="3"/>
      <dgm:spPr/>
    </dgm:pt>
    <dgm:pt modelId="{F7978639-8078-40CA-A569-0EB89CC64D9B}" type="pres">
      <dgm:prSet presAssocID="{1B8264AB-9C3F-4F1D-9461-1CCA27EA793E}" presName="node" presStyleLbl="node1" presStyleIdx="1" presStyleCnt="4">
        <dgm:presLayoutVars>
          <dgm:bulletEnabled val="1"/>
        </dgm:presLayoutVars>
      </dgm:prSet>
      <dgm:spPr/>
    </dgm:pt>
    <dgm:pt modelId="{ABA4C7CB-D8AF-4DDC-8A6E-11B4658E700D}" type="pres">
      <dgm:prSet presAssocID="{BD0FB89C-9832-495E-9FCF-548F973D9675}" presName="sibTrans" presStyleLbl="sibTrans2D1" presStyleIdx="1" presStyleCnt="3" custAng="0"/>
      <dgm:spPr/>
    </dgm:pt>
    <dgm:pt modelId="{0AF499E0-D06E-4934-B5BB-5A56903CBC29}" type="pres">
      <dgm:prSet presAssocID="{BD0FB89C-9832-495E-9FCF-548F973D9675}" presName="connectorText" presStyleLbl="sibTrans2D1" presStyleIdx="1" presStyleCnt="3"/>
      <dgm:spPr/>
    </dgm:pt>
    <dgm:pt modelId="{E50B25F1-11B2-4709-A8D4-3A57BD21294E}" type="pres">
      <dgm:prSet presAssocID="{EA4B0D88-F69E-4545-BE44-FD0D1A0CDBFA}" presName="node" presStyleLbl="node1" presStyleIdx="2" presStyleCnt="4">
        <dgm:presLayoutVars>
          <dgm:bulletEnabled val="1"/>
        </dgm:presLayoutVars>
      </dgm:prSet>
      <dgm:spPr/>
    </dgm:pt>
    <dgm:pt modelId="{0C3F972A-6393-4934-B34E-152E2C615FB8}" type="pres">
      <dgm:prSet presAssocID="{6DEA7E7C-E80A-4672-9971-1A1C7372D7AD}" presName="sibTrans" presStyleLbl="sibTrans2D1" presStyleIdx="2" presStyleCnt="3" custAng="0"/>
      <dgm:spPr/>
    </dgm:pt>
    <dgm:pt modelId="{E7700C43-FED6-4980-9C2B-656B1A83365E}" type="pres">
      <dgm:prSet presAssocID="{6DEA7E7C-E80A-4672-9971-1A1C7372D7AD}" presName="connectorText" presStyleLbl="sibTrans2D1" presStyleIdx="2" presStyleCnt="3"/>
      <dgm:spPr/>
    </dgm:pt>
    <dgm:pt modelId="{426D26ED-D590-4539-9A2C-59AAF3C04FEA}" type="pres">
      <dgm:prSet presAssocID="{423C6E87-06F3-4622-A620-D32E3E74AB4A}" presName="node" presStyleLbl="node1" presStyleIdx="3" presStyleCnt="4">
        <dgm:presLayoutVars>
          <dgm:bulletEnabled val="1"/>
        </dgm:presLayoutVars>
      </dgm:prSet>
      <dgm:spPr/>
    </dgm:pt>
  </dgm:ptLst>
  <dgm:cxnLst>
    <dgm:cxn modelId="{D67E4901-AB8A-4CC6-AAEF-E514C5720760}" type="presOf" srcId="{1B8264AB-9C3F-4F1D-9461-1CCA27EA793E}" destId="{F7978639-8078-40CA-A569-0EB89CC64D9B}" srcOrd="0" destOrd="0" presId="urn:microsoft.com/office/officeart/2005/8/layout/process1"/>
    <dgm:cxn modelId="{E230DD15-1F37-4BE1-91F9-2789C011ADB3}" srcId="{23E81B5A-1A19-4E6D-B1E1-EA3F50CC542E}" destId="{423C6E87-06F3-4622-A620-D32E3E74AB4A}" srcOrd="3" destOrd="0" parTransId="{C1C55C8B-2E9C-4A57-9BBF-222AE03DEEE9}" sibTransId="{A64DDF64-8AD4-4AFF-870A-1E7ACB0FEF1B}"/>
    <dgm:cxn modelId="{0E39C122-96F8-44C1-BACB-A04FF9F987D0}" srcId="{23E81B5A-1A19-4E6D-B1E1-EA3F50CC542E}" destId="{EA4B0D88-F69E-4545-BE44-FD0D1A0CDBFA}" srcOrd="2" destOrd="0" parTransId="{A53F1071-1076-48EA-AA32-CEEB1B1931A9}" sibTransId="{6DEA7E7C-E80A-4672-9971-1A1C7372D7AD}"/>
    <dgm:cxn modelId="{ECB40E2D-67AC-44A6-A9D7-3C957B009E06}" type="presOf" srcId="{BD0FB89C-9832-495E-9FCF-548F973D9675}" destId="{ABA4C7CB-D8AF-4DDC-8A6E-11B4658E700D}" srcOrd="0" destOrd="0" presId="urn:microsoft.com/office/officeart/2005/8/layout/process1"/>
    <dgm:cxn modelId="{40AB6540-E253-4727-912B-5C746352D958}" type="presOf" srcId="{423C6E87-06F3-4622-A620-D32E3E74AB4A}" destId="{426D26ED-D590-4539-9A2C-59AAF3C04FEA}" srcOrd="0" destOrd="0" presId="urn:microsoft.com/office/officeart/2005/8/layout/process1"/>
    <dgm:cxn modelId="{1E16065D-ED6E-4060-B674-02A13F326EEA}" type="presOf" srcId="{6DEA7E7C-E80A-4672-9971-1A1C7372D7AD}" destId="{E7700C43-FED6-4980-9C2B-656B1A83365E}" srcOrd="1" destOrd="0" presId="urn:microsoft.com/office/officeart/2005/8/layout/process1"/>
    <dgm:cxn modelId="{52B5B85F-AF4D-4798-BC0A-1C5D06CE4917}" type="presOf" srcId="{23E81B5A-1A19-4E6D-B1E1-EA3F50CC542E}" destId="{A24330E5-3819-4389-863E-298868A0B544}" srcOrd="0" destOrd="0" presId="urn:microsoft.com/office/officeart/2005/8/layout/process1"/>
    <dgm:cxn modelId="{3511DF47-79D2-4C4B-B122-9A992D029135}" type="presOf" srcId="{EA4B0D88-F69E-4545-BE44-FD0D1A0CDBFA}" destId="{E50B25F1-11B2-4709-A8D4-3A57BD21294E}" srcOrd="0" destOrd="0" presId="urn:microsoft.com/office/officeart/2005/8/layout/process1"/>
    <dgm:cxn modelId="{2BF05F6F-AEFD-4B12-BD66-0342C3169906}" type="presOf" srcId="{42426173-FB36-47CC-B4BB-4838AE8B0EE8}" destId="{ED6089B4-27AF-4A02-AC7A-B8783CF8B31F}" srcOrd="1" destOrd="0" presId="urn:microsoft.com/office/officeart/2005/8/layout/process1"/>
    <dgm:cxn modelId="{128263B8-5E64-4ADE-B147-0B727DCB574F}" srcId="{23E81B5A-1A19-4E6D-B1E1-EA3F50CC542E}" destId="{1B8264AB-9C3F-4F1D-9461-1CCA27EA793E}" srcOrd="1" destOrd="0" parTransId="{392D244D-67A7-44F7-B681-2748D0280427}" sibTransId="{BD0FB89C-9832-495E-9FCF-548F973D9675}"/>
    <dgm:cxn modelId="{4AE792C8-DBE3-492E-AE4A-558189C31932}" type="presOf" srcId="{E5793325-D280-4888-8447-44EB5AE1DD7E}" destId="{6A3B0DE4-1119-4E42-BF43-3FFB7CE0A508}" srcOrd="0" destOrd="0" presId="urn:microsoft.com/office/officeart/2005/8/layout/process1"/>
    <dgm:cxn modelId="{51B199CB-710F-4FB7-B91A-46E83DE5CA07}" srcId="{23E81B5A-1A19-4E6D-B1E1-EA3F50CC542E}" destId="{E5793325-D280-4888-8447-44EB5AE1DD7E}" srcOrd="0" destOrd="0" parTransId="{A39E91CA-A3BF-4231-9C0F-C30C9AD30230}" sibTransId="{42426173-FB36-47CC-B4BB-4838AE8B0EE8}"/>
    <dgm:cxn modelId="{66F109D4-D79E-49C7-9737-8E6737EF5E3F}" type="presOf" srcId="{6DEA7E7C-E80A-4672-9971-1A1C7372D7AD}" destId="{0C3F972A-6393-4934-B34E-152E2C615FB8}" srcOrd="0" destOrd="0" presId="urn:microsoft.com/office/officeart/2005/8/layout/process1"/>
    <dgm:cxn modelId="{B1A45CD6-10F1-443A-B5E6-ED0F116DC505}" type="presOf" srcId="{BD0FB89C-9832-495E-9FCF-548F973D9675}" destId="{0AF499E0-D06E-4934-B5BB-5A56903CBC29}" srcOrd="1" destOrd="0" presId="urn:microsoft.com/office/officeart/2005/8/layout/process1"/>
    <dgm:cxn modelId="{442443F0-0319-4A17-82DC-CC929041470B}" type="presOf" srcId="{42426173-FB36-47CC-B4BB-4838AE8B0EE8}" destId="{5DF2CD80-534D-44DF-93A0-686AF7B952A9}" srcOrd="0" destOrd="0" presId="urn:microsoft.com/office/officeart/2005/8/layout/process1"/>
    <dgm:cxn modelId="{1DF213C9-B4BE-40E3-AB95-73D2A485D00B}" type="presParOf" srcId="{A24330E5-3819-4389-863E-298868A0B544}" destId="{6A3B0DE4-1119-4E42-BF43-3FFB7CE0A508}" srcOrd="0" destOrd="0" presId="urn:microsoft.com/office/officeart/2005/8/layout/process1"/>
    <dgm:cxn modelId="{9772D2F9-1876-49CE-BD22-C1D2CDB9CDCD}" type="presParOf" srcId="{A24330E5-3819-4389-863E-298868A0B544}" destId="{5DF2CD80-534D-44DF-93A0-686AF7B952A9}" srcOrd="1" destOrd="0" presId="urn:microsoft.com/office/officeart/2005/8/layout/process1"/>
    <dgm:cxn modelId="{50136110-1C0B-4541-B86E-48C62A1EA31F}" type="presParOf" srcId="{5DF2CD80-534D-44DF-93A0-686AF7B952A9}" destId="{ED6089B4-27AF-4A02-AC7A-B8783CF8B31F}" srcOrd="0" destOrd="0" presId="urn:microsoft.com/office/officeart/2005/8/layout/process1"/>
    <dgm:cxn modelId="{AECCA4C9-C4F8-4A20-B29A-2808B8599D6E}" type="presParOf" srcId="{A24330E5-3819-4389-863E-298868A0B544}" destId="{F7978639-8078-40CA-A569-0EB89CC64D9B}" srcOrd="2" destOrd="0" presId="urn:microsoft.com/office/officeart/2005/8/layout/process1"/>
    <dgm:cxn modelId="{3568AD7F-5C90-419E-A4F1-2F609CD06230}" type="presParOf" srcId="{A24330E5-3819-4389-863E-298868A0B544}" destId="{ABA4C7CB-D8AF-4DDC-8A6E-11B4658E700D}" srcOrd="3" destOrd="0" presId="urn:microsoft.com/office/officeart/2005/8/layout/process1"/>
    <dgm:cxn modelId="{10735DBC-AAF9-4ADB-8180-BCF05F781E08}" type="presParOf" srcId="{ABA4C7CB-D8AF-4DDC-8A6E-11B4658E700D}" destId="{0AF499E0-D06E-4934-B5BB-5A56903CBC29}" srcOrd="0" destOrd="0" presId="urn:microsoft.com/office/officeart/2005/8/layout/process1"/>
    <dgm:cxn modelId="{08435C63-AB15-4236-9382-610F7CAA9ED2}" type="presParOf" srcId="{A24330E5-3819-4389-863E-298868A0B544}" destId="{E50B25F1-11B2-4709-A8D4-3A57BD21294E}" srcOrd="4" destOrd="0" presId="urn:microsoft.com/office/officeart/2005/8/layout/process1"/>
    <dgm:cxn modelId="{D774DD14-DBE7-4BF5-B080-70CA4752E742}" type="presParOf" srcId="{A24330E5-3819-4389-863E-298868A0B544}" destId="{0C3F972A-6393-4934-B34E-152E2C615FB8}" srcOrd="5" destOrd="0" presId="urn:microsoft.com/office/officeart/2005/8/layout/process1"/>
    <dgm:cxn modelId="{4BBC5677-C215-4A74-9030-3111C8A73170}" type="presParOf" srcId="{0C3F972A-6393-4934-B34E-152E2C615FB8}" destId="{E7700C43-FED6-4980-9C2B-656B1A83365E}" srcOrd="0" destOrd="0" presId="urn:microsoft.com/office/officeart/2005/8/layout/process1"/>
    <dgm:cxn modelId="{F524409B-BDA2-41EE-B144-716ED876F00A}" type="presParOf" srcId="{A24330E5-3819-4389-863E-298868A0B544}" destId="{426D26ED-D590-4539-9A2C-59AAF3C04FE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B0DE4-1119-4E42-BF43-3FFB7CE0A508}">
      <dsp:nvSpPr>
        <dsp:cNvPr id="0" name=""/>
        <dsp:cNvSpPr/>
      </dsp:nvSpPr>
      <dsp:spPr>
        <a:xfrm>
          <a:off x="5357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4500" kern="1200"/>
        </a:p>
      </dsp:txBody>
      <dsp:txXfrm>
        <a:off x="46524" y="3402400"/>
        <a:ext cx="2260220" cy="1323198"/>
      </dsp:txXfrm>
    </dsp:sp>
    <dsp:sp modelId="{5DF2CD80-534D-44DF-93A0-686AF7B952A9}">
      <dsp:nvSpPr>
        <dsp:cNvPr id="0" name=""/>
        <dsp:cNvSpPr/>
      </dsp:nvSpPr>
      <dsp:spPr>
        <a:xfrm rot="10800000">
          <a:off x="2582167" y="3773523"/>
          <a:ext cx="496621" cy="58095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400" kern="1200"/>
        </a:p>
      </dsp:txBody>
      <dsp:txXfrm>
        <a:off x="2731153" y="3889714"/>
        <a:ext cx="347635" cy="348571"/>
      </dsp:txXfrm>
    </dsp:sp>
    <dsp:sp modelId="{F7978639-8078-40CA-A569-0EB89CC64D9B}">
      <dsp:nvSpPr>
        <dsp:cNvPr id="0" name=""/>
        <dsp:cNvSpPr/>
      </dsp:nvSpPr>
      <dsp:spPr>
        <a:xfrm>
          <a:off x="3284934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 err="1"/>
            <a:t>cout</a:t>
          </a:r>
          <a:endParaRPr lang="en-PK" sz="4500" b="1" kern="1200" dirty="0"/>
        </a:p>
      </dsp:txBody>
      <dsp:txXfrm>
        <a:off x="3326101" y="3402400"/>
        <a:ext cx="2260220" cy="1323198"/>
      </dsp:txXfrm>
    </dsp:sp>
    <dsp:sp modelId="{ABA4C7CB-D8AF-4DDC-8A6E-11B4658E700D}">
      <dsp:nvSpPr>
        <dsp:cNvPr id="0" name=""/>
        <dsp:cNvSpPr/>
      </dsp:nvSpPr>
      <dsp:spPr>
        <a:xfrm rot="10800000">
          <a:off x="5861744" y="3773523"/>
          <a:ext cx="496621" cy="58095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400" kern="1200"/>
        </a:p>
      </dsp:txBody>
      <dsp:txXfrm>
        <a:off x="6010730" y="3889714"/>
        <a:ext cx="347635" cy="348571"/>
      </dsp:txXfrm>
    </dsp:sp>
    <dsp:sp modelId="{E50B25F1-11B2-4709-A8D4-3A57BD21294E}">
      <dsp:nvSpPr>
        <dsp:cNvPr id="0" name=""/>
        <dsp:cNvSpPr/>
      </dsp:nvSpPr>
      <dsp:spPr>
        <a:xfrm>
          <a:off x="6564510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&lt;&lt;</a:t>
          </a:r>
          <a:endParaRPr lang="en-PK" sz="4500" b="1" kern="1200" dirty="0"/>
        </a:p>
      </dsp:txBody>
      <dsp:txXfrm>
        <a:off x="6605677" y="3402400"/>
        <a:ext cx="2260220" cy="1323198"/>
      </dsp:txXfrm>
    </dsp:sp>
    <dsp:sp modelId="{0C3F972A-6393-4934-B34E-152E2C615FB8}">
      <dsp:nvSpPr>
        <dsp:cNvPr id="0" name=""/>
        <dsp:cNvSpPr/>
      </dsp:nvSpPr>
      <dsp:spPr>
        <a:xfrm rot="10800000">
          <a:off x="9141321" y="3773523"/>
          <a:ext cx="496621" cy="58095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400" kern="1200"/>
        </a:p>
      </dsp:txBody>
      <dsp:txXfrm>
        <a:off x="9290307" y="3889714"/>
        <a:ext cx="347635" cy="348571"/>
      </dsp:txXfrm>
    </dsp:sp>
    <dsp:sp modelId="{426D26ED-D590-4539-9A2C-59AAF3C04FEA}">
      <dsp:nvSpPr>
        <dsp:cNvPr id="0" name=""/>
        <dsp:cNvSpPr/>
      </dsp:nvSpPr>
      <dsp:spPr>
        <a:xfrm>
          <a:off x="9844087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variable</a:t>
          </a:r>
          <a:endParaRPr lang="en-PK" sz="4500" b="1" kern="1200" dirty="0"/>
        </a:p>
      </dsp:txBody>
      <dsp:txXfrm>
        <a:off x="9885254" y="3402400"/>
        <a:ext cx="2260220" cy="1323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B0DE4-1119-4E42-BF43-3FFB7CE0A508}">
      <dsp:nvSpPr>
        <dsp:cNvPr id="0" name=""/>
        <dsp:cNvSpPr/>
      </dsp:nvSpPr>
      <dsp:spPr>
        <a:xfrm>
          <a:off x="5357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4500" kern="1200"/>
        </a:p>
      </dsp:txBody>
      <dsp:txXfrm>
        <a:off x="46524" y="3402400"/>
        <a:ext cx="2260220" cy="1323198"/>
      </dsp:txXfrm>
    </dsp:sp>
    <dsp:sp modelId="{5DF2CD80-534D-44DF-93A0-686AF7B952A9}">
      <dsp:nvSpPr>
        <dsp:cNvPr id="0" name=""/>
        <dsp:cNvSpPr/>
      </dsp:nvSpPr>
      <dsp:spPr>
        <a:xfrm>
          <a:off x="2582167" y="3773523"/>
          <a:ext cx="496621" cy="58095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400" kern="1200"/>
        </a:p>
      </dsp:txBody>
      <dsp:txXfrm>
        <a:off x="2582167" y="3889714"/>
        <a:ext cx="347635" cy="348571"/>
      </dsp:txXfrm>
    </dsp:sp>
    <dsp:sp modelId="{F7978639-8078-40CA-A569-0EB89CC64D9B}">
      <dsp:nvSpPr>
        <dsp:cNvPr id="0" name=""/>
        <dsp:cNvSpPr/>
      </dsp:nvSpPr>
      <dsp:spPr>
        <a:xfrm>
          <a:off x="3284934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 err="1"/>
            <a:t>cin</a:t>
          </a:r>
          <a:endParaRPr lang="en-PK" sz="4500" b="1" kern="1200" dirty="0"/>
        </a:p>
      </dsp:txBody>
      <dsp:txXfrm>
        <a:off x="3326101" y="3402400"/>
        <a:ext cx="2260220" cy="1323198"/>
      </dsp:txXfrm>
    </dsp:sp>
    <dsp:sp modelId="{ABA4C7CB-D8AF-4DDC-8A6E-11B4658E700D}">
      <dsp:nvSpPr>
        <dsp:cNvPr id="0" name=""/>
        <dsp:cNvSpPr/>
      </dsp:nvSpPr>
      <dsp:spPr>
        <a:xfrm>
          <a:off x="5861744" y="3773523"/>
          <a:ext cx="496621" cy="58095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400" kern="1200"/>
        </a:p>
      </dsp:txBody>
      <dsp:txXfrm>
        <a:off x="5861744" y="3889714"/>
        <a:ext cx="347635" cy="348571"/>
      </dsp:txXfrm>
    </dsp:sp>
    <dsp:sp modelId="{E50B25F1-11B2-4709-A8D4-3A57BD21294E}">
      <dsp:nvSpPr>
        <dsp:cNvPr id="0" name=""/>
        <dsp:cNvSpPr/>
      </dsp:nvSpPr>
      <dsp:spPr>
        <a:xfrm>
          <a:off x="6564510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&gt;&gt;</a:t>
          </a:r>
          <a:endParaRPr lang="en-PK" sz="4500" b="1" kern="1200" dirty="0"/>
        </a:p>
      </dsp:txBody>
      <dsp:txXfrm>
        <a:off x="6605677" y="3402400"/>
        <a:ext cx="2260220" cy="1323198"/>
      </dsp:txXfrm>
    </dsp:sp>
    <dsp:sp modelId="{0C3F972A-6393-4934-B34E-152E2C615FB8}">
      <dsp:nvSpPr>
        <dsp:cNvPr id="0" name=""/>
        <dsp:cNvSpPr/>
      </dsp:nvSpPr>
      <dsp:spPr>
        <a:xfrm>
          <a:off x="9141321" y="3773523"/>
          <a:ext cx="496621" cy="58095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2400" kern="1200" dirty="0"/>
        </a:p>
      </dsp:txBody>
      <dsp:txXfrm>
        <a:off x="9141321" y="3889714"/>
        <a:ext cx="347635" cy="348571"/>
      </dsp:txXfrm>
    </dsp:sp>
    <dsp:sp modelId="{426D26ED-D590-4539-9A2C-59AAF3C04FEA}">
      <dsp:nvSpPr>
        <dsp:cNvPr id="0" name=""/>
        <dsp:cNvSpPr/>
      </dsp:nvSpPr>
      <dsp:spPr>
        <a:xfrm>
          <a:off x="9844087" y="3361233"/>
          <a:ext cx="2342554" cy="140553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kern="1200" dirty="0"/>
            <a:t>variable</a:t>
          </a:r>
          <a:endParaRPr lang="en-PK" sz="4500" b="1" kern="1200" dirty="0"/>
        </a:p>
      </dsp:txBody>
      <dsp:txXfrm>
        <a:off x="9885254" y="3402400"/>
        <a:ext cx="2260220" cy="1323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17075" y="333678"/>
            <a:ext cx="228727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513" y="295405"/>
            <a:ext cx="805814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5508" y="1761127"/>
            <a:ext cx="7750175" cy="666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geeksforgeeks.org/cpp/strings-in-cpp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0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3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17075" y="4665290"/>
            <a:ext cx="6483405" cy="264752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5080">
              <a:lnSpc>
                <a:spcPts val="9340"/>
              </a:lnSpc>
              <a:spcBef>
                <a:spcPts val="1045"/>
              </a:spcBef>
            </a:pPr>
            <a:r>
              <a:rPr lang="en-US" sz="8500" b="1" spc="-335" dirty="0">
                <a:latin typeface="Lucida Sans"/>
                <a:cs typeface="Lucida Sans"/>
              </a:rPr>
              <a:t>Lecture-1</a:t>
            </a:r>
          </a:p>
          <a:p>
            <a:pPr marL="12700" marR="5080">
              <a:lnSpc>
                <a:spcPts val="9340"/>
              </a:lnSpc>
              <a:spcBef>
                <a:spcPts val="1045"/>
              </a:spcBef>
            </a:pPr>
            <a:r>
              <a:rPr lang="en-US" sz="8500" b="1" spc="-335" dirty="0">
                <a:latin typeface="Lucida Sans"/>
                <a:cs typeface="Lucida Sans"/>
              </a:rPr>
              <a:t>Introduction</a:t>
            </a:r>
            <a:endParaRPr sz="8500" dirty="0">
              <a:latin typeface="Lucida Sans"/>
              <a:cs typeface="Lucida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ctrTitle"/>
          </p:nvPr>
        </p:nvSpPr>
        <p:spPr>
          <a:xfrm>
            <a:off x="9617074" y="333678"/>
            <a:ext cx="36417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sz="2000" dirty="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286A-58DB-5533-9E56-656687D3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E93EBD-C8DD-5623-647A-B4B06AC6A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5508" y="1333500"/>
            <a:ext cx="16315692" cy="58967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266065" algn="just">
              <a:lnSpc>
                <a:spcPct val="150000"/>
              </a:lnSpc>
              <a:spcBef>
                <a:spcPts val="19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Instructions</a:t>
            </a:r>
            <a:endParaRPr lang="en-US" sz="4400" b="1" u="sng" spc="-10" dirty="0">
              <a:latin typeface="+mn-lt"/>
            </a:endParaRP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Please join </a:t>
            </a:r>
            <a:r>
              <a:rPr lang="en-US" sz="4000" b="1" i="1" u="sng" dirty="0">
                <a:latin typeface="+mn-lt"/>
                <a:cs typeface="Century"/>
              </a:rPr>
              <a:t>Google Classroom</a:t>
            </a:r>
            <a:r>
              <a:rPr lang="en-US" sz="4000" b="1" dirty="0">
                <a:latin typeface="+mn-lt"/>
                <a:cs typeface="Century"/>
              </a:rPr>
              <a:t> </a:t>
            </a:r>
            <a:r>
              <a:rPr lang="en-US" sz="4000" dirty="0">
                <a:latin typeface="+mn-lt"/>
                <a:cs typeface="Century"/>
              </a:rPr>
              <a:t>to get updates.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Attendance will be marked on </a:t>
            </a:r>
            <a:r>
              <a:rPr lang="en-US" sz="4000" b="1" i="1" u="sng" dirty="0">
                <a:latin typeface="+mn-lt"/>
                <a:cs typeface="Century"/>
              </a:rPr>
              <a:t>Google Forms</a:t>
            </a:r>
            <a:r>
              <a:rPr lang="en-US" sz="4000" dirty="0">
                <a:latin typeface="+mn-lt"/>
                <a:cs typeface="Century"/>
              </a:rPr>
              <a:t>. 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In case of any query, contact me on my email. (</a:t>
            </a:r>
            <a:r>
              <a:rPr lang="en-US" sz="4000" b="1" i="1" u="sng" dirty="0">
                <a:latin typeface="+mn-lt"/>
                <a:cs typeface="Century"/>
              </a:rPr>
              <a:t>ishabansatti@gmail.com</a:t>
            </a:r>
            <a:r>
              <a:rPr lang="en-US" sz="4000" dirty="0">
                <a:latin typeface="+mn-lt"/>
                <a:cs typeface="Century"/>
              </a:rPr>
              <a:t>)</a:t>
            </a:r>
          </a:p>
          <a:p>
            <a:pPr marL="224790" marR="5080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</a:rPr>
              <a:t>Please be punctual in class.</a:t>
            </a:r>
          </a:p>
          <a:p>
            <a:pPr marL="12065" marR="5080">
              <a:lnSpc>
                <a:spcPct val="107800"/>
              </a:lnSpc>
              <a:spcBef>
                <a:spcPts val="500"/>
              </a:spcBef>
              <a:tabLst>
                <a:tab pos="227329" algn="l"/>
              </a:tabLst>
            </a:pPr>
            <a:endParaRPr sz="2000" dirty="0">
              <a:latin typeface="+mn-lt"/>
              <a:cs typeface="Century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495E98E-6D88-46A0-B4AD-AC03A4BD05B4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8B409D8-164E-B57B-E04E-A175196A6461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4CB8E33-8C0E-6412-4968-5356172BB96C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B0492C-3212-1687-B6FB-0D5D2D640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6499566"/>
            <a:ext cx="7078063" cy="28197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5C428F-A5D4-5FE4-6576-EAE2D00E0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6457545"/>
            <a:ext cx="6258798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97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5A28-C6DD-8909-B46D-9369859F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CA86C4-4B98-0A3B-6975-C01C7A532B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71600" y="1686943"/>
            <a:ext cx="6638292" cy="4722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4400" b="1" u="sng" spc="505" dirty="0">
                <a:latin typeface="+mn-lt"/>
              </a:rPr>
              <a:t>Marks Breakup</a:t>
            </a:r>
            <a:endParaRPr sz="4400" b="1" u="sng" spc="-10" dirty="0">
              <a:latin typeface="+mn-lt"/>
            </a:endParaRPr>
          </a:p>
          <a:p>
            <a:pPr marL="224790" marR="266065" indent="-212725">
              <a:lnSpc>
                <a:spcPct val="150000"/>
              </a:lnSpc>
              <a:spcBef>
                <a:spcPts val="19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Quizzes 		(25 = 5 X 5)</a:t>
            </a:r>
          </a:p>
          <a:p>
            <a:pPr marL="224790" marR="5080" indent="-212725">
              <a:lnSpc>
                <a:spcPct val="150000"/>
              </a:lnSpc>
              <a:spcBef>
                <a:spcPts val="5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Assignments 	(5  = 1 X 5)</a:t>
            </a:r>
          </a:p>
          <a:p>
            <a:pPr marL="224790" marR="5080" indent="-212725">
              <a:lnSpc>
                <a:spcPct val="150000"/>
              </a:lnSpc>
              <a:spcBef>
                <a:spcPts val="5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Mid Exam 		(30)</a:t>
            </a:r>
          </a:p>
          <a:p>
            <a:pPr marL="224790" marR="5080" indent="-212725">
              <a:lnSpc>
                <a:spcPct val="150000"/>
              </a:lnSpc>
              <a:spcBef>
                <a:spcPts val="500"/>
              </a:spcBef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Final Exam 		(40)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A22673-B915-D4E0-DC40-4799366467A5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CC161C6-151A-D376-ABF8-2A25A0DFC401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2296C35-D2C8-BE3F-C238-1B1D10FBC86D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A62B920-9B23-19D3-C8BC-24E4B8561848}"/>
              </a:ext>
            </a:extLst>
          </p:cNvPr>
          <p:cNvSpPr txBox="1">
            <a:spLocks/>
          </p:cNvSpPr>
          <p:nvPr/>
        </p:nvSpPr>
        <p:spPr>
          <a:xfrm>
            <a:off x="9617075" y="1686943"/>
            <a:ext cx="8342312" cy="564353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marL="0">
              <a:defRPr sz="50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5080">
              <a:lnSpc>
                <a:spcPct val="107800"/>
              </a:lnSpc>
              <a:spcBef>
                <a:spcPts val="5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Instructions 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MCQs based quizzes on google forms. 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You should have a GitHub account  to upload your assignment codes.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All assignments will be followed by a relevant viva. </a:t>
            </a:r>
            <a:endParaRPr lang="en-US" sz="2000" dirty="0">
              <a:latin typeface="Century"/>
              <a:cs typeface="Century"/>
            </a:endParaRPr>
          </a:p>
        </p:txBody>
      </p:sp>
    </p:spTree>
    <p:extLst>
      <p:ext uri="{BB962C8B-B14F-4D97-AF65-F5344CB8AC3E}">
        <p14:creationId xmlns:p14="http://schemas.microsoft.com/office/powerpoint/2010/main" val="173139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BC6B-F20D-EE9D-22CB-E09907E36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9E1AD44-CF8C-9361-F730-72B62397B42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BA94B5A-1975-4FFA-FCF4-71F29F6475BB}"/>
              </a:ext>
            </a:extLst>
          </p:cNvPr>
          <p:cNvSpPr txBox="1"/>
          <p:nvPr/>
        </p:nvSpPr>
        <p:spPr>
          <a:xfrm>
            <a:off x="9617075" y="333678"/>
            <a:ext cx="34131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FD6C4EF-C9BF-B54B-9F05-A1DBA9A0D540}"/>
              </a:ext>
            </a:extLst>
          </p:cNvPr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0F452E6-97EC-552B-AD12-24E2A8533553}"/>
              </a:ext>
            </a:extLst>
          </p:cNvPr>
          <p:cNvSpPr txBox="1">
            <a:spLocks/>
          </p:cNvSpPr>
          <p:nvPr/>
        </p:nvSpPr>
        <p:spPr>
          <a:xfrm>
            <a:off x="685800" y="1485900"/>
            <a:ext cx="14782800" cy="62409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 marL="0">
              <a:defRPr sz="5000" b="0" i="0">
                <a:solidFill>
                  <a:schemeClr val="tx1"/>
                </a:solidFill>
                <a:latin typeface="Century Gothic"/>
                <a:ea typeface="+mn-ea"/>
                <a:cs typeface="Century Gothic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5080">
              <a:lnSpc>
                <a:spcPct val="150000"/>
              </a:lnSpc>
              <a:spcBef>
                <a:spcPts val="500"/>
              </a:spcBef>
              <a:tabLst>
                <a:tab pos="227329" algn="l"/>
              </a:tabLst>
            </a:pPr>
            <a:r>
              <a:rPr lang="en-US" sz="4400" b="1" u="sng" spc="505" dirty="0">
                <a:latin typeface="+mn-lt"/>
              </a:rPr>
              <a:t>Tools Required for this course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 err="1">
                <a:latin typeface="+mn-lt"/>
                <a:cs typeface="Century"/>
              </a:rPr>
              <a:t>CLion</a:t>
            </a:r>
            <a:r>
              <a:rPr lang="en-US" sz="4000" dirty="0">
                <a:latin typeface="+mn-lt"/>
                <a:cs typeface="Century"/>
              </a:rPr>
              <a:t>(code editor)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</a:rPr>
              <a:t>GCC C++ compiler and GDB debugger from mingw-w64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endParaRPr lang="en-US" sz="4000" dirty="0">
              <a:latin typeface="+mn-lt"/>
              <a:cs typeface="Century"/>
            </a:endParaRP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>
                <a:latin typeface="+mn-lt"/>
                <a:cs typeface="Century"/>
              </a:rPr>
              <a:t>Safe exam browser</a:t>
            </a:r>
          </a:p>
          <a:p>
            <a:pPr marL="224790" marR="266065" indent="-21272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Char char="•"/>
              <a:tabLst>
                <a:tab pos="227329" algn="l"/>
              </a:tabLst>
            </a:pPr>
            <a:r>
              <a:rPr lang="en-US" sz="4000" dirty="0" err="1">
                <a:latin typeface="+mn-lt"/>
              </a:rPr>
              <a:t>CMake</a:t>
            </a:r>
            <a:endParaRPr lang="en-US" sz="40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4BAE08-518B-DCBE-AFA7-84CA28E87064}"/>
              </a:ext>
            </a:extLst>
          </p:cNvPr>
          <p:cNvSpPr txBox="1"/>
          <p:nvPr/>
        </p:nvSpPr>
        <p:spPr>
          <a:xfrm>
            <a:off x="947816" y="4624402"/>
            <a:ext cx="952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>
                <a:latin typeface="+mn-lt"/>
              </a:rPr>
              <a:t>https://code.visualstudio.com/docs/cpp/config-mingw</a:t>
            </a:r>
            <a:endParaRPr lang="en-PK" sz="3200" b="1" i="1" u="sng" dirty="0">
              <a:latin typeface="+mn-lt"/>
            </a:endParaRPr>
          </a:p>
        </p:txBody>
      </p:sp>
      <p:pic>
        <p:nvPicPr>
          <p:cNvPr id="1030" name="Picture 6" descr="Safe Exam Browser · GitHub">
            <a:extLst>
              <a:ext uri="{FF2B5EF4-FFF2-40B4-BE49-F238E27FC236}">
                <a16:creationId xmlns:a16="http://schemas.microsoft.com/office/drawing/2014/main" id="{3CA3A4EE-A42E-E5D0-3A54-BE2839650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3999" y="5336390"/>
            <a:ext cx="1152000" cy="11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EA83CE-EE9C-355F-A7A0-6343BBE18A26}"/>
              </a:ext>
            </a:extLst>
          </p:cNvPr>
          <p:cNvSpPr txBox="1"/>
          <p:nvPr/>
        </p:nvSpPr>
        <p:spPr>
          <a:xfrm>
            <a:off x="5046247" y="5944226"/>
            <a:ext cx="10093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/>
              <a:t>https://safeexambrowser.org/download_en.html</a:t>
            </a:r>
            <a:endParaRPr lang="en-PK" sz="3200" b="1" i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06AED-8B4A-7A35-C9E3-92951520608B}"/>
              </a:ext>
            </a:extLst>
          </p:cNvPr>
          <p:cNvSpPr txBox="1"/>
          <p:nvPr/>
        </p:nvSpPr>
        <p:spPr>
          <a:xfrm>
            <a:off x="2579980" y="7010436"/>
            <a:ext cx="57097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/>
              <a:t>https://cmake.org/download/</a:t>
            </a:r>
            <a:endParaRPr lang="en-PK" sz="3200" b="1" i="1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ED7654-9E5F-6307-71CD-0D3082210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329" y="7010436"/>
            <a:ext cx="1705213" cy="6096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E0FDAC-7C77-1037-92BF-79D3048B0408}"/>
              </a:ext>
            </a:extLst>
          </p:cNvPr>
          <p:cNvSpPr txBox="1"/>
          <p:nvPr/>
        </p:nvSpPr>
        <p:spPr>
          <a:xfrm>
            <a:off x="5045075" y="2775830"/>
            <a:ext cx="6461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u="sng" dirty="0"/>
              <a:t>https://www.jetbrains.com/clion/</a:t>
            </a:r>
            <a:endParaRPr lang="en-PK" sz="3200" b="1" i="1" u="sng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EF30C1-6493-7B4E-C938-091E1AD14A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4800" y="2341288"/>
            <a:ext cx="108600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86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F5F6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05513" y="7018409"/>
            <a:ext cx="4385945" cy="1319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500" b="1" spc="185" dirty="0">
                <a:latin typeface="Lucida Sans"/>
                <a:cs typeface="Lucida Sans"/>
              </a:rPr>
              <a:t>Agenda</a:t>
            </a:r>
            <a:endParaRPr sz="850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617075" y="333678"/>
            <a:ext cx="36417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100480" y="333863"/>
            <a:ext cx="15779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68185" y="1257300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dirty="0">
                <a:latin typeface="Century"/>
                <a:cs typeface="Century"/>
              </a:rPr>
              <a:t>Why we need OOP?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681715" y="2299499"/>
            <a:ext cx="440354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dirty="0">
                <a:latin typeface="Century"/>
                <a:cs typeface="Century"/>
              </a:rPr>
              <a:t>Characteristics of OOP</a:t>
            </a:r>
            <a:endParaRPr sz="2000" dirty="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9300" y="3334579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30" dirty="0">
                <a:latin typeface="Century"/>
                <a:cs typeface="Century"/>
              </a:rPr>
              <a:t>A Basic C++ Program</a:t>
            </a:r>
            <a:endParaRPr lang="en-US" sz="3200" dirty="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99300" y="4382367"/>
            <a:ext cx="541642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30" dirty="0">
                <a:latin typeface="Century"/>
                <a:cs typeface="Century"/>
              </a:rPr>
              <a:t>Variables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9300" y="5430245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65" dirty="0">
                <a:latin typeface="Century"/>
                <a:cs typeface="Century"/>
              </a:rPr>
              <a:t>Input &amp; Output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17075" y="1433630"/>
            <a:ext cx="54102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200" spc="-160" dirty="0">
                <a:solidFill>
                  <a:srgbClr val="2B57D9"/>
                </a:solidFill>
                <a:latin typeface="Century Gothic"/>
                <a:cs typeface="Century Gothic"/>
              </a:rPr>
              <a:t>01.</a:t>
            </a:r>
            <a:endParaRPr sz="32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14730" y="2456803"/>
            <a:ext cx="631825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30" dirty="0">
                <a:solidFill>
                  <a:srgbClr val="2B57D9"/>
                </a:solidFill>
                <a:latin typeface="Century Gothic"/>
                <a:cs typeface="Century Gothic"/>
              </a:rPr>
              <a:t>02.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32315" y="3493247"/>
            <a:ext cx="62230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03.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32315" y="4542398"/>
            <a:ext cx="67564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150" dirty="0">
                <a:solidFill>
                  <a:srgbClr val="2B57D9"/>
                </a:solidFill>
                <a:latin typeface="Century Gothic"/>
                <a:cs typeface="Century Gothic"/>
              </a:rPr>
              <a:t>04.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32315" y="5590486"/>
            <a:ext cx="62738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05.</a:t>
            </a:r>
            <a:endParaRPr sz="3300">
              <a:latin typeface="Century Gothic"/>
              <a:cs typeface="Century Gothic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2F05598A-1F41-B771-915F-CE0FB634D9CF}"/>
              </a:ext>
            </a:extLst>
          </p:cNvPr>
          <p:cNvSpPr txBox="1"/>
          <p:nvPr/>
        </p:nvSpPr>
        <p:spPr>
          <a:xfrm>
            <a:off x="10681715" y="7499698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65" dirty="0">
                <a:latin typeface="Century"/>
                <a:cs typeface="Century"/>
              </a:rPr>
              <a:t>Arithmetic Operations 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894DA593-F06F-009B-56CD-CF1E62E247E5}"/>
              </a:ext>
            </a:extLst>
          </p:cNvPr>
          <p:cNvSpPr txBox="1"/>
          <p:nvPr/>
        </p:nvSpPr>
        <p:spPr>
          <a:xfrm>
            <a:off x="9614730" y="7659939"/>
            <a:ext cx="62738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</a:t>
            </a:r>
            <a:r>
              <a:rPr lang="en-US"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7</a:t>
            </a: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.</a:t>
            </a:r>
            <a:endParaRPr sz="3300" dirty="0">
              <a:latin typeface="Century Gothic"/>
              <a:cs typeface="Century Gothic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1C7A4E7A-50D9-5885-BC40-9A7AB4D68FB0}"/>
              </a:ext>
            </a:extLst>
          </p:cNvPr>
          <p:cNvSpPr txBox="1"/>
          <p:nvPr/>
        </p:nvSpPr>
        <p:spPr>
          <a:xfrm>
            <a:off x="10681715" y="6460039"/>
            <a:ext cx="4234180" cy="680314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lang="en-US" sz="3200" spc="-65" dirty="0">
                <a:latin typeface="Century"/>
                <a:cs typeface="Century"/>
              </a:rPr>
              <a:t>Type Conversion</a:t>
            </a:r>
            <a:endParaRPr sz="3200" dirty="0">
              <a:latin typeface="Century"/>
              <a:cs typeface="Century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A76E3FEE-C0D3-6DAB-22BB-BE24216622C3}"/>
              </a:ext>
            </a:extLst>
          </p:cNvPr>
          <p:cNvSpPr txBox="1"/>
          <p:nvPr/>
        </p:nvSpPr>
        <p:spPr>
          <a:xfrm>
            <a:off x="9614730" y="6620280"/>
            <a:ext cx="627380" cy="527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0</a:t>
            </a:r>
            <a:r>
              <a:rPr lang="en-US"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6</a:t>
            </a:r>
            <a:r>
              <a:rPr sz="3300" spc="-25" dirty="0">
                <a:solidFill>
                  <a:srgbClr val="2B57D9"/>
                </a:solidFill>
                <a:latin typeface="Century Gothic"/>
                <a:cs typeface="Century Gothic"/>
              </a:rPr>
              <a:t>.</a:t>
            </a:r>
            <a:endParaRPr sz="33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9775" y="6398572"/>
            <a:ext cx="7610475" cy="1929373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6500" b="1" spc="655" dirty="0">
                <a:latin typeface="+mn-lt"/>
                <a:cs typeface="Century Gothic"/>
              </a:rPr>
              <a:t>Why do we need OOP?</a:t>
            </a:r>
            <a:endParaRPr sz="6500" b="1" dirty="0">
              <a:latin typeface="+mn-lt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9140" y="6778545"/>
            <a:ext cx="15621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01.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0B570-6429-13EC-CBA0-41C5DFFE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84F30D4-A573-4E12-9AED-67ADA0401C38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3B0738-40DB-6700-B105-4F86797E9C38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2260FA-C1B1-20BF-A1A7-9E87E58F4993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pic>
        <p:nvPicPr>
          <p:cNvPr id="16" name="Picture 15" descr="Shock Panda">
            <a:extLst>
              <a:ext uri="{FF2B5EF4-FFF2-40B4-BE49-F238E27FC236}">
                <a16:creationId xmlns:a16="http://schemas.microsoft.com/office/drawing/2014/main" id="{4250C191-2080-3607-1BBD-9C1FBC1093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610100"/>
            <a:ext cx="1440000" cy="144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07F6A-52C9-C494-B2A4-238385CBFC34}"/>
              </a:ext>
            </a:extLst>
          </p:cNvPr>
          <p:cNvSpPr txBox="1"/>
          <p:nvPr/>
        </p:nvSpPr>
        <p:spPr>
          <a:xfrm>
            <a:off x="11162618" y="6251953"/>
            <a:ext cx="493785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1. Unrestricted access</a:t>
            </a:r>
            <a:endParaRPr lang="en-PK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4B29B-B2DA-68CA-5A82-4A246EB20E45}"/>
              </a:ext>
            </a:extLst>
          </p:cNvPr>
          <p:cNvSpPr txBox="1"/>
          <p:nvPr/>
        </p:nvSpPr>
        <p:spPr>
          <a:xfrm>
            <a:off x="11162618" y="7335100"/>
            <a:ext cx="589120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latin typeface="+mn-lt"/>
              </a:rPr>
              <a:t>2. Poor real-world mapping</a:t>
            </a:r>
            <a:endParaRPr lang="en-PK" sz="4000" dirty="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1C22BC-5F07-6269-63BE-833EBFD4F4DA}"/>
              </a:ext>
            </a:extLst>
          </p:cNvPr>
          <p:cNvSpPr txBox="1"/>
          <p:nvPr/>
        </p:nvSpPr>
        <p:spPr>
          <a:xfrm>
            <a:off x="11162618" y="4976157"/>
            <a:ext cx="689678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+mn-lt"/>
              </a:rPr>
              <a:t>Issues with Procedural Paradigm</a:t>
            </a:r>
            <a:endParaRPr lang="en-PK" sz="4000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603EC08D-C7F0-26C8-DD81-7F3840A1CDE9}"/>
              </a:ext>
            </a:extLst>
          </p:cNvPr>
          <p:cNvSpPr txBox="1"/>
          <p:nvPr/>
        </p:nvSpPr>
        <p:spPr>
          <a:xfrm>
            <a:off x="914400" y="992541"/>
            <a:ext cx="7933687" cy="65102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Procedural Programming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Structures code as a sequence of instructions.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Organized into reusable blocks called </a:t>
            </a:r>
            <a:r>
              <a:rPr lang="en-US" sz="4000" b="1" dirty="0">
                <a:latin typeface="+mn-lt"/>
              </a:rPr>
              <a:t>functions</a:t>
            </a:r>
            <a:r>
              <a:rPr lang="en-US" sz="4000" dirty="0">
                <a:latin typeface="+mn-lt"/>
              </a:rPr>
              <a:t>, which are called in a specific order to perform tasks. 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Key languages include C.</a:t>
            </a:r>
            <a:endParaRPr sz="2000" dirty="0">
              <a:latin typeface="+mn-lt"/>
              <a:cs typeface="Century"/>
            </a:endParaRPr>
          </a:p>
        </p:txBody>
      </p:sp>
      <p:pic>
        <p:nvPicPr>
          <p:cNvPr id="2050" name="Picture 2" descr="Procedure-Oriented Programming Language(POP) | Hexainclude">
            <a:extLst>
              <a:ext uri="{FF2B5EF4-FFF2-40B4-BE49-F238E27FC236}">
                <a16:creationId xmlns:a16="http://schemas.microsoft.com/office/drawing/2014/main" id="{3B601E45-1CF0-F0C6-521B-1A346F247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4887" y="1348963"/>
            <a:ext cx="5868000" cy="266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F147D3-26B6-9E10-49AF-000C48AD481A}"/>
              </a:ext>
            </a:extLst>
          </p:cNvPr>
          <p:cNvSpPr txBox="1"/>
          <p:nvPr/>
        </p:nvSpPr>
        <p:spPr>
          <a:xfrm>
            <a:off x="11162617" y="8417013"/>
            <a:ext cx="589120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3</a:t>
            </a:r>
            <a:r>
              <a:rPr lang="en-US" sz="4000" dirty="0">
                <a:latin typeface="+mn-lt"/>
              </a:rPr>
              <a:t>. Inextensibility</a:t>
            </a:r>
            <a:endParaRPr lang="en-PK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20999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8A27-8A20-1C0F-160F-E785DD49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A880F25-148C-4B0C-6254-A2B9D152BB53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BA7771C-C1E3-4241-42FB-C5B3DBF4A856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4D6DBDF-144C-85D6-8569-74DDC43B283A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pic>
        <p:nvPicPr>
          <p:cNvPr id="16" name="Picture 15" descr="Shock Panda">
            <a:extLst>
              <a:ext uri="{FF2B5EF4-FFF2-40B4-BE49-F238E27FC236}">
                <a16:creationId xmlns:a16="http://schemas.microsoft.com/office/drawing/2014/main" id="{82CCCF92-23A7-E89A-2FE7-087E339A6D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293" y="1424643"/>
            <a:ext cx="1440000" cy="144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BD8238-5E7E-9358-2E26-110DD79CD6CC}"/>
              </a:ext>
            </a:extLst>
          </p:cNvPr>
          <p:cNvSpPr txBox="1"/>
          <p:nvPr/>
        </p:nvSpPr>
        <p:spPr>
          <a:xfrm>
            <a:off x="10934511" y="3066496"/>
            <a:ext cx="493785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1. Unrestricted access</a:t>
            </a:r>
            <a:endParaRPr lang="en-PK" sz="4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D5575-FE8E-316B-E362-850A96C4BF38}"/>
              </a:ext>
            </a:extLst>
          </p:cNvPr>
          <p:cNvSpPr txBox="1"/>
          <p:nvPr/>
        </p:nvSpPr>
        <p:spPr>
          <a:xfrm>
            <a:off x="10934511" y="4149643"/>
            <a:ext cx="589120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latin typeface="+mn-lt"/>
              </a:rPr>
              <a:t>2. Poor real-world mapping</a:t>
            </a:r>
            <a:endParaRPr lang="en-PK" sz="4000" dirty="0"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86D597-10AF-9B68-6072-B672401C8FD2}"/>
              </a:ext>
            </a:extLst>
          </p:cNvPr>
          <p:cNvSpPr txBox="1"/>
          <p:nvPr/>
        </p:nvSpPr>
        <p:spPr>
          <a:xfrm>
            <a:off x="10934511" y="1790700"/>
            <a:ext cx="689678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+mn-lt"/>
              </a:rPr>
              <a:t>Issues with Procedural Paradigm</a:t>
            </a:r>
            <a:endParaRPr lang="en-PK" sz="4000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0B249CE9-966B-B914-7C76-116625878E7F}"/>
              </a:ext>
            </a:extLst>
          </p:cNvPr>
          <p:cNvSpPr txBox="1"/>
          <p:nvPr/>
        </p:nvSpPr>
        <p:spPr>
          <a:xfrm>
            <a:off x="914400" y="992541"/>
            <a:ext cx="7933687" cy="371460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90"/>
              </a:spcBef>
            </a:pPr>
            <a:r>
              <a:rPr lang="en-US" sz="4400" b="1" u="sng" dirty="0">
                <a:latin typeface="+mn-lt"/>
              </a:rPr>
              <a:t>Object Oriented Programming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Combines data (data items) and relevant functions (member functions) in a single unit (object).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43050C-81C6-6C29-18B0-8AEABB3CEBE6}"/>
              </a:ext>
            </a:extLst>
          </p:cNvPr>
          <p:cNvSpPr txBox="1"/>
          <p:nvPr/>
        </p:nvSpPr>
        <p:spPr>
          <a:xfrm>
            <a:off x="10934510" y="5231556"/>
            <a:ext cx="589120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/>
              <a:t>3</a:t>
            </a:r>
            <a:r>
              <a:rPr lang="en-US" sz="4000" dirty="0">
                <a:latin typeface="+mn-lt"/>
              </a:rPr>
              <a:t>. Inextensibility</a:t>
            </a:r>
            <a:endParaRPr lang="en-PK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5666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12212-E031-53AC-157B-81AD1BAB9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442FD2-8CEF-D467-9B66-F5F48F73F312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926B3E8-5222-302B-475F-1E058B970A43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7E8990B-7867-8CEA-7077-7612CE02866B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E430241-E5D9-8185-09CF-D5F4C59A0C43}"/>
              </a:ext>
            </a:extLst>
          </p:cNvPr>
          <p:cNvSpPr txBox="1"/>
          <p:nvPr/>
        </p:nvSpPr>
        <p:spPr>
          <a:xfrm>
            <a:off x="9629775" y="6398572"/>
            <a:ext cx="7610475" cy="1929373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6500" b="1" spc="655" dirty="0">
                <a:latin typeface="+mn-lt"/>
                <a:cs typeface="Century Gothic"/>
              </a:rPr>
              <a:t>Characteristics of OOP</a:t>
            </a:r>
            <a:endParaRPr sz="65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8C1A502-7F6F-D2AB-8C3B-B3448F2635B2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2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8C39BA-150A-76EC-D7EF-AFFF538B030E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49DD0E1-B087-1F3B-5D2E-2F3BC2578D25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FF064D5-2C4B-79BE-CAF7-459A48A622B1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A90D655-3E6C-1B59-6DD4-9AA1BBCB24A6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691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5360-346E-C90B-47BB-98A47B4A4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A9D0DDE-E1D3-6E62-B7D0-CEDFDB4F1F9B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ACBA92F-0ED9-C85C-763F-F8DA88231CE5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D13D401-290F-6659-E54E-0FFF1E68D540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pic>
        <p:nvPicPr>
          <p:cNvPr id="3074" name="Picture 2" descr="Let's Understand the OOP. Object-oriented programming (OOP) is a… | by  Pavithan | Medium">
            <a:extLst>
              <a:ext uri="{FF2B5EF4-FFF2-40B4-BE49-F238E27FC236}">
                <a16:creationId xmlns:a16="http://schemas.microsoft.com/office/drawing/2014/main" id="{9BD00918-4A22-6B85-57C7-9009B0A23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544" y="1075500"/>
            <a:ext cx="11019363" cy="81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47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F622B-F1AE-5E1F-E099-CDB8AF7B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60105D8-C128-E0FE-CA7A-7BBF9288CB7F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CCF8DA7-E969-75CA-DB5C-43D8B4EDD02C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6EEC32C-5971-BE3C-231C-2EC104C3E8BC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6" name="AutoShape 4" descr="Object Oriented Programming in C++ - GeeksforGeeks">
            <a:extLst>
              <a:ext uri="{FF2B5EF4-FFF2-40B4-BE49-F238E27FC236}">
                <a16:creationId xmlns:a16="http://schemas.microsoft.com/office/drawing/2014/main" id="{81257D2E-B709-2072-8192-EFDD414FF8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5FBDA6-6E2A-7043-235C-EEE9C743C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134" y="2075100"/>
            <a:ext cx="11722931" cy="583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2EFD89-667B-E642-50D6-7E31EDF6435B}"/>
              </a:ext>
            </a:extLst>
          </p:cNvPr>
          <p:cNvSpPr txBox="1"/>
          <p:nvPr/>
        </p:nvSpPr>
        <p:spPr>
          <a:xfrm>
            <a:off x="994529" y="986715"/>
            <a:ext cx="3653671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Class and Object</a:t>
            </a:r>
            <a:endParaRPr lang="en-PK" sz="4000" dirty="0">
              <a:highlight>
                <a:srgbClr val="FF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2697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7D079-9DEA-3A13-8786-4444B32D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CA7160A-8B13-6BA5-E91F-D2C019B8562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2AFA581-7A76-7215-518A-B74CEFEC09E7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E73D9EE-07C3-F6B0-B13E-EAFED1B0A9C2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6" name="AutoShape 4" descr="Object Oriented Programming in C++ - GeeksforGeeks">
            <a:extLst>
              <a:ext uri="{FF2B5EF4-FFF2-40B4-BE49-F238E27FC236}">
                <a16:creationId xmlns:a16="http://schemas.microsoft.com/office/drawing/2014/main" id="{BC719019-E51F-FACB-D12C-180D40A6DF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5122" name="Picture 2" descr="Exploring Inheritance in Object-Oriented Programming - DEV Community">
            <a:extLst>
              <a:ext uri="{FF2B5EF4-FFF2-40B4-BE49-F238E27FC236}">
                <a16:creationId xmlns:a16="http://schemas.microsoft.com/office/drawing/2014/main" id="{EF4B07AF-A9A2-23F6-9B50-A1690335E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075" y="2047500"/>
            <a:ext cx="7740000" cy="6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238F6D-5642-8409-800F-3923B476396F}"/>
              </a:ext>
            </a:extLst>
          </p:cNvPr>
          <p:cNvSpPr txBox="1"/>
          <p:nvPr/>
        </p:nvSpPr>
        <p:spPr>
          <a:xfrm>
            <a:off x="994529" y="986715"/>
            <a:ext cx="6015871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Inheritance and Reusability</a:t>
            </a:r>
            <a:endParaRPr lang="en-PK" sz="4000" dirty="0">
              <a:highlight>
                <a:srgbClr val="FF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3442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0EBDC-A03C-C928-516C-BF2C9219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9B9B28C-238F-3588-C402-006007D75D4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E5C3364-4466-93B9-DAC5-974762A4E304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4FEC42F-AACE-C826-2439-2C3ED502A044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6" name="AutoShape 4" descr="Object Oriented Programming in C++ - GeeksforGeeks">
            <a:extLst>
              <a:ext uri="{FF2B5EF4-FFF2-40B4-BE49-F238E27FC236}">
                <a16:creationId xmlns:a16="http://schemas.microsoft.com/office/drawing/2014/main" id="{D4609049-838B-7ECF-8E6A-460E2FCC59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7949BA-A7DE-28A0-562F-A1F7D35BE8B5}"/>
              </a:ext>
            </a:extLst>
          </p:cNvPr>
          <p:cNvSpPr txBox="1"/>
          <p:nvPr/>
        </p:nvSpPr>
        <p:spPr>
          <a:xfrm>
            <a:off x="994529" y="986715"/>
            <a:ext cx="6015871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Inheritance and Reusability</a:t>
            </a:r>
            <a:endParaRPr lang="en-PK" sz="4000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7234A-BBE0-970A-048A-21510456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575" y="1867500"/>
            <a:ext cx="7370999" cy="65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3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F482-C8A5-841D-9680-F63F1B38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D2B190-6D67-156E-6ED9-F9DD4E51BF6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9220F65-9A95-A1E2-5C35-4E5D567E6392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B6285DD-93A8-6B94-01E4-E590D8858D5E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61B57BF-C807-D724-212E-055A4D2C38C9}"/>
              </a:ext>
            </a:extLst>
          </p:cNvPr>
          <p:cNvSpPr txBox="1"/>
          <p:nvPr/>
        </p:nvSpPr>
        <p:spPr>
          <a:xfrm>
            <a:off x="9629775" y="6398572"/>
            <a:ext cx="7610475" cy="1929373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6500" b="1" spc="655" dirty="0">
                <a:latin typeface="+mn-lt"/>
                <a:cs typeface="Century Gothic"/>
              </a:rPr>
              <a:t>A Basic C++ Program</a:t>
            </a:r>
            <a:endParaRPr sz="65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C26C4E5-3971-5DF2-8619-B0CBB571ED6D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3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A84E971-DA2F-5A1F-C53F-7595B499752D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ED520F8-7E30-C6D8-734F-ECF8333EBFDA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FAE4F4-C59E-01DE-2264-6B50691A4B66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208013E-9EF8-5E15-EEEB-671F33F57FEB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868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12607-CBBF-C0C9-5938-3CC426F3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C011AF4-668B-6E3A-941E-20DDE4576BFF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B8CB5B6-A39E-80A5-97AA-2E690165DA7C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8C5A149-6847-8379-3C2F-E724A9F2BE00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6" name="AutoShape 4" descr="Object Oriented Programming in C++ - GeeksforGeeks">
            <a:extLst>
              <a:ext uri="{FF2B5EF4-FFF2-40B4-BE49-F238E27FC236}">
                <a16:creationId xmlns:a16="http://schemas.microsoft.com/office/drawing/2014/main" id="{E1404C01-FEE4-78BC-879E-23E3BFCFF3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DE55B7-58C7-7656-63B8-5C83C9FBFD9A}"/>
              </a:ext>
            </a:extLst>
          </p:cNvPr>
          <p:cNvSpPr txBox="1"/>
          <p:nvPr/>
        </p:nvSpPr>
        <p:spPr>
          <a:xfrm>
            <a:off x="994529" y="986715"/>
            <a:ext cx="510147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 Basic C++ Program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2549F6-A06A-C1BF-0676-F328D4D66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91" y="2263500"/>
            <a:ext cx="16575818" cy="5760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CBA5E0-FC62-03EC-CCE0-39B3585617EF}"/>
              </a:ext>
            </a:extLst>
          </p:cNvPr>
          <p:cNvSpPr txBox="1"/>
          <p:nvPr/>
        </p:nvSpPr>
        <p:spPr>
          <a:xfrm>
            <a:off x="7603665" y="2400300"/>
            <a:ext cx="4893136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Preprocessor Directive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0587D6-394D-3ABC-AC43-CB073DE0BCEB}"/>
              </a:ext>
            </a:extLst>
          </p:cNvPr>
          <p:cNvSpPr txBox="1"/>
          <p:nvPr/>
        </p:nvSpPr>
        <p:spPr>
          <a:xfrm>
            <a:off x="7618905" y="3224757"/>
            <a:ext cx="343009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Using Directive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594509-6E59-5B6B-1C7F-B3E1317E7438}"/>
              </a:ext>
            </a:extLst>
          </p:cNvPr>
          <p:cNvSpPr txBox="1"/>
          <p:nvPr/>
        </p:nvSpPr>
        <p:spPr>
          <a:xfrm>
            <a:off x="4572001" y="4363464"/>
            <a:ext cx="320040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main function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0992ED-EDD3-529B-851D-A6D87E00FA5C}"/>
              </a:ext>
            </a:extLst>
          </p:cNvPr>
          <p:cNvSpPr txBox="1"/>
          <p:nvPr/>
        </p:nvSpPr>
        <p:spPr>
          <a:xfrm>
            <a:off x="8993237" y="5065665"/>
            <a:ext cx="253093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statements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1410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6D37C-9DE9-EE47-19E7-D51259EF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0D5D8AD-F5D7-D0BF-17AD-0AFCD4697F1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0555CCA-CEE9-6FC6-A472-25F6FC151C5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7A16594-5B74-DB92-2FFF-C9A096664AA2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3F72B2-3B9F-1375-8E16-7D9A9DA6AFE4}"/>
              </a:ext>
            </a:extLst>
          </p:cNvPr>
          <p:cNvSpPr txBox="1"/>
          <p:nvPr/>
        </p:nvSpPr>
        <p:spPr>
          <a:xfrm>
            <a:off x="994528" y="986715"/>
            <a:ext cx="57110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Preprocessor Directive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8028CF3-8674-8BDB-64D2-58949464488F}"/>
              </a:ext>
            </a:extLst>
          </p:cNvPr>
          <p:cNvSpPr txBox="1"/>
          <p:nvPr/>
        </p:nvSpPr>
        <p:spPr>
          <a:xfrm>
            <a:off x="994528" y="2019300"/>
            <a:ext cx="16226672" cy="36222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A </a:t>
            </a:r>
            <a:r>
              <a:rPr lang="en-US" sz="4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preprocessor directive </a:t>
            </a:r>
            <a:r>
              <a:rPr lang="en-US" sz="4000" dirty="0">
                <a:latin typeface="+mn-lt"/>
              </a:rPr>
              <a:t>is an instruction to the compiler. 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The preprocessor directive #include tells the compiler to insert another file into your source file. 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The type file usually included by #include is called a </a:t>
            </a:r>
            <a:r>
              <a:rPr lang="en-US" sz="40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header file</a:t>
            </a:r>
            <a:r>
              <a:rPr lang="en-US" sz="4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326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A91F-E376-1E78-8E49-D6620881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5E7D74E-8D95-1217-A324-E6AE767C231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7EE19FB-ED3C-BA88-4084-B7A7339F9F19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15E874-1413-A29A-8E5B-8654DCFE6088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1FCD3-0E3D-DE36-461C-5DB784666D14}"/>
              </a:ext>
            </a:extLst>
          </p:cNvPr>
          <p:cNvSpPr txBox="1"/>
          <p:nvPr/>
        </p:nvSpPr>
        <p:spPr>
          <a:xfrm>
            <a:off x="994529" y="986715"/>
            <a:ext cx="715887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C++ Application Build Process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11266" name="Picture 2" descr="GCC and Make - A Tutorial on how to compile, link and build C/C++  applications">
            <a:extLst>
              <a:ext uri="{FF2B5EF4-FFF2-40B4-BE49-F238E27FC236}">
                <a16:creationId xmlns:a16="http://schemas.microsoft.com/office/drawing/2014/main" id="{43B2D96D-F293-B441-4364-9818DD083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25" y="2083500"/>
            <a:ext cx="13068750" cy="61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469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F1AF-7A84-6E92-0569-6E61C5EC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15DDBEC-968D-6915-5426-BC3C0D339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0" y="2562101"/>
            <a:ext cx="16272000" cy="516279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81BA77F0-5206-B52E-7B99-2CF644E05F76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ABB910F-6337-CA2F-006B-6B0387A4040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EDED69B-A33D-E830-FFAD-1DF3C2E2B8A8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6" name="AutoShape 4" descr="Object Oriented Programming in C++ - GeeksforGeeks">
            <a:extLst>
              <a:ext uri="{FF2B5EF4-FFF2-40B4-BE49-F238E27FC236}">
                <a16:creationId xmlns:a16="http://schemas.microsoft.com/office/drawing/2014/main" id="{35DB3E84-FB7D-AD2E-F881-60DD76E134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1620000" cy="1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630CCC-F302-49A9-DD33-86EF4693D10D}"/>
              </a:ext>
            </a:extLst>
          </p:cNvPr>
          <p:cNvSpPr txBox="1"/>
          <p:nvPr/>
        </p:nvSpPr>
        <p:spPr>
          <a:xfrm>
            <a:off x="994529" y="986715"/>
            <a:ext cx="510147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 Basic C++ Program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135E2C-3308-C5A9-D0B2-5AF96711D301}"/>
              </a:ext>
            </a:extLst>
          </p:cNvPr>
          <p:cNvSpPr txBox="1"/>
          <p:nvPr/>
        </p:nvSpPr>
        <p:spPr>
          <a:xfrm>
            <a:off x="4800600" y="5041784"/>
            <a:ext cx="525780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Without Using Directive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566630-AF1A-DEEC-2971-9A96C5201E28}"/>
              </a:ext>
            </a:extLst>
          </p:cNvPr>
          <p:cNvSpPr txBox="1"/>
          <p:nvPr/>
        </p:nvSpPr>
        <p:spPr>
          <a:xfrm>
            <a:off x="8016875" y="2714772"/>
            <a:ext cx="242252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comments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7953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0AE5-6B24-5CF3-3904-3E0798B6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ED6CF2D-E9E2-6035-8771-0D61642AB0A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3442B67-C799-C24A-6C76-B37646F1018A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C375797-E281-8F42-5A3A-B1A448174230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856144-F4D8-1881-74D2-33CBB5C63F2A}"/>
              </a:ext>
            </a:extLst>
          </p:cNvPr>
          <p:cNvSpPr txBox="1"/>
          <p:nvPr/>
        </p:nvSpPr>
        <p:spPr>
          <a:xfrm>
            <a:off x="994529" y="986715"/>
            <a:ext cx="2957298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Comments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87D1A-8640-B5CC-A596-118CA5FC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03500"/>
            <a:ext cx="7663726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180CA9-9ABB-884A-BACE-352CC111C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96" y="5540752"/>
            <a:ext cx="2956131" cy="338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157309-4083-90FB-5DFE-39CF7B245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077199"/>
            <a:ext cx="6993902" cy="13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209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B5C81-21BA-55CD-3EDB-A3E5E9678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1D74164-7579-B618-80B3-46F3901C4FFC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975D91F-73D8-976E-7A0A-A0061F2168FC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11FEA4E-7EBF-C933-92CB-F86902B7D86B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30E786-AA2C-E467-9882-A406BD1D891F}"/>
              </a:ext>
            </a:extLst>
          </p:cNvPr>
          <p:cNvSpPr txBox="1"/>
          <p:nvPr/>
        </p:nvSpPr>
        <p:spPr>
          <a:xfrm>
            <a:off x="994528" y="986715"/>
            <a:ext cx="327267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Whitespaces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5372E98F-5839-E319-81A4-8B955AE3B0B0}"/>
              </a:ext>
            </a:extLst>
          </p:cNvPr>
          <p:cNvSpPr txBox="1"/>
          <p:nvPr/>
        </p:nvSpPr>
        <p:spPr>
          <a:xfrm>
            <a:off x="994528" y="2019300"/>
            <a:ext cx="16226672" cy="73412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Whitespace is defined as spaces, returns, and tabs. 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These characters are invisible to the compiler.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The first line of the program, starting with #include, is a preprocessor directive, which must be written on one line. 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Also, string constants, such as “Every age has a language of its own”, cannot be broken into separate lines. (If you need a long string constant, you can insert a backslash (\) at the line break or divide the string into two separate strings, each surrounded by quotes.)</a:t>
            </a:r>
          </a:p>
        </p:txBody>
      </p:sp>
    </p:spTree>
    <p:extLst>
      <p:ext uri="{BB962C8B-B14F-4D97-AF65-F5344CB8AC3E}">
        <p14:creationId xmlns:p14="http://schemas.microsoft.com/office/powerpoint/2010/main" val="1429689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0B40-F17E-5067-4787-C8E93258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5645C2-4203-07CE-2D45-0E8C2896E30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B95D294-E07C-A364-5F17-AA1998425D38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CADA2CE-09CA-ED59-E6AB-DDEE903E3CBB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4AFAEF8-F10D-EC8A-EFEE-27FC15DE74E8}"/>
              </a:ext>
            </a:extLst>
          </p:cNvPr>
          <p:cNvSpPr txBox="1"/>
          <p:nvPr/>
        </p:nvSpPr>
        <p:spPr>
          <a:xfrm>
            <a:off x="9629775" y="6996264"/>
            <a:ext cx="7610475" cy="111626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9600" b="1" spc="655" dirty="0">
                <a:latin typeface="+mn-lt"/>
                <a:cs typeface="Century Gothic"/>
              </a:rPr>
              <a:t>Variables</a:t>
            </a:r>
            <a:endParaRPr sz="96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542F330-5973-A043-FA6E-C639638D6CE3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4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C6F10CC-E275-C282-3831-80AE407D2F68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F6154C4-8F34-5613-D066-73FD0C33B748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089A886-F045-DF7C-BDFE-68A4FAB88F87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9889009-2E8C-16BB-7B1B-4AAA9450FA67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0510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B54E-BBFD-3B17-674C-73DAF02E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E4950D4-97A3-6317-21FE-B5D917D5456C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5B9F8BC-14D7-DB02-41BE-D28CBA04573D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B8AD87-6BD0-1CF0-CB73-F158F8118782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40A117-E3CB-6BD2-DEAC-A4B8D1B7E70A}"/>
              </a:ext>
            </a:extLst>
          </p:cNvPr>
          <p:cNvSpPr txBox="1"/>
          <p:nvPr/>
        </p:nvSpPr>
        <p:spPr>
          <a:xfrm>
            <a:off x="994529" y="986715"/>
            <a:ext cx="2957298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Variables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6146" name="Picture 2" descr="Variables in C++ - GeeksforGeeks">
            <a:extLst>
              <a:ext uri="{FF2B5EF4-FFF2-40B4-BE49-F238E27FC236}">
                <a16:creationId xmlns:a16="http://schemas.microsoft.com/office/drawing/2014/main" id="{8955E86C-73FD-9FF7-134C-F4BC57A4E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966" y="2781300"/>
            <a:ext cx="8208000" cy="41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32A1C-D741-3866-7EA1-BB49C619AAE0}"/>
              </a:ext>
            </a:extLst>
          </p:cNvPr>
          <p:cNvSpPr txBox="1"/>
          <p:nvPr/>
        </p:nvSpPr>
        <p:spPr>
          <a:xfrm>
            <a:off x="9982200" y="1164134"/>
            <a:ext cx="63968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Variable Name/Identifier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D8020D3B-39B1-B1BF-51B3-9C24E516555F}"/>
              </a:ext>
            </a:extLst>
          </p:cNvPr>
          <p:cNvSpPr txBox="1"/>
          <p:nvPr/>
        </p:nvSpPr>
        <p:spPr>
          <a:xfrm>
            <a:off x="9982200" y="2196719"/>
            <a:ext cx="7933687" cy="457125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Numbers, alphabets, and _ allowed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First character should be letter or underscore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Case sensitive</a:t>
            </a:r>
          </a:p>
          <a:p>
            <a:pPr marL="584200" indent="-571500" algn="just">
              <a:lnSpc>
                <a:spcPct val="150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Do not use keywords</a:t>
            </a:r>
          </a:p>
        </p:txBody>
      </p:sp>
    </p:spTree>
    <p:extLst>
      <p:ext uri="{BB962C8B-B14F-4D97-AF65-F5344CB8AC3E}">
        <p14:creationId xmlns:p14="http://schemas.microsoft.com/office/powerpoint/2010/main" val="4149608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936A1-52D9-0222-0B76-8CD14302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402C7B-E570-C454-98F1-6D7E9B5A1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889" y="1866900"/>
            <a:ext cx="10922371" cy="72000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D6B2E8E-45E6-2FF2-A023-E2F864205CFA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1EDEEB-DB0B-548D-740D-8CC6F91C1AB1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C31F403-D570-ADA0-50C7-C6E87B3C602B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5394C-A821-6594-073E-ACCC11053919}"/>
              </a:ext>
            </a:extLst>
          </p:cNvPr>
          <p:cNvSpPr txBox="1"/>
          <p:nvPr/>
        </p:nvSpPr>
        <p:spPr>
          <a:xfrm>
            <a:off x="994528" y="986715"/>
            <a:ext cx="372987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Example Code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FDC1F-B1DA-2182-6802-08A5C72DFBC1}"/>
              </a:ext>
            </a:extLst>
          </p:cNvPr>
          <p:cNvSpPr txBox="1"/>
          <p:nvPr/>
        </p:nvSpPr>
        <p:spPr>
          <a:xfrm>
            <a:off x="455798" y="4991100"/>
            <a:ext cx="442100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Variable declaration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DFB062-15A3-3CCA-221D-0003280F95C4}"/>
              </a:ext>
            </a:extLst>
          </p:cNvPr>
          <p:cNvSpPr txBox="1"/>
          <p:nvPr/>
        </p:nvSpPr>
        <p:spPr>
          <a:xfrm>
            <a:off x="760598" y="6057900"/>
            <a:ext cx="404000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00FF00"/>
                </a:highlight>
              </a:rPr>
              <a:t>Variable definition</a:t>
            </a:r>
            <a:endParaRPr lang="en-PK" sz="4000" dirty="0">
              <a:highlight>
                <a:srgbClr val="00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81654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841FC-6485-799A-768D-120A0E15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9013B99-582F-F005-294A-6E213DD3F1B0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3C7D1B9-0024-69AF-DFE7-3CA912E5F6EE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461C84C-C3A9-315B-BBD7-06B391ED2179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8C438-50AC-64C0-DE5B-836302EF22D8}"/>
              </a:ext>
            </a:extLst>
          </p:cNvPr>
          <p:cNvSpPr txBox="1"/>
          <p:nvPr/>
        </p:nvSpPr>
        <p:spPr>
          <a:xfrm>
            <a:off x="994528" y="986715"/>
            <a:ext cx="28154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  <a:latin typeface="+mn-lt"/>
              </a:rPr>
              <a:t>Data Types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EA7CB6-A6F7-7B61-ED39-DDF93077E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61" y="1920900"/>
            <a:ext cx="13641827" cy="68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645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30FD-F9E5-DB35-A7CC-FF2473C7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49FF051-CC0E-4D10-9121-436FBD6AD536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DBAE1B1-8B9D-879D-07CC-14C3D5E7A019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B2438C8-3EBF-4314-C245-C5D2AE2E81F3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B51E2-CFD4-B02A-A5DA-C5800910A326}"/>
              </a:ext>
            </a:extLst>
          </p:cNvPr>
          <p:cNvSpPr txBox="1"/>
          <p:nvPr/>
        </p:nvSpPr>
        <p:spPr>
          <a:xfrm>
            <a:off x="994528" y="986715"/>
            <a:ext cx="2891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Data Types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8194" name="Picture 2" descr="C++ Data Types - Codinz">
            <a:extLst>
              <a:ext uri="{FF2B5EF4-FFF2-40B4-BE49-F238E27FC236}">
                <a16:creationId xmlns:a16="http://schemas.microsoft.com/office/drawing/2014/main" id="{D5611D1B-267C-F017-B597-41C5463C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000" y="1903500"/>
            <a:ext cx="12960000" cy="64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713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9177-47F5-22CE-31E2-732D7CDA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A5503CE-9333-B09D-AE90-4C85559C8B94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F171CC6-4CD0-D07B-EC4C-3CEE0661732C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D135581-FE4A-32AF-334A-D9CF405CC3EE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E99512-2D6F-14D2-DBDE-7B75C1209467}"/>
              </a:ext>
            </a:extLst>
          </p:cNvPr>
          <p:cNvSpPr txBox="1"/>
          <p:nvPr/>
        </p:nvSpPr>
        <p:spPr>
          <a:xfrm>
            <a:off x="994528" y="986715"/>
            <a:ext cx="2891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Data Types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C80808-1DF6-23E8-9EEB-78F68984C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556" y="2171700"/>
            <a:ext cx="11374437" cy="24006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0A360F-3D72-1A2D-F9A4-EBA55E2E3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556" y="4562370"/>
            <a:ext cx="11422069" cy="19624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96FDBA-F0DB-5B90-BCFB-F5A16FF36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075" y="6712747"/>
            <a:ext cx="9396000" cy="261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450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36049-2A45-11E8-0B50-494D68A5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649EF0D-69CD-15D2-5DAE-C7651F74B01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D207672-FE39-53D7-44D0-E4091F321302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4D90276-8B83-9501-58F8-3DD74CA3E759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5A3513-2DEF-99C8-BE28-4330BEB0D970}"/>
              </a:ext>
            </a:extLst>
          </p:cNvPr>
          <p:cNvSpPr txBox="1"/>
          <p:nvPr/>
        </p:nvSpPr>
        <p:spPr>
          <a:xfrm>
            <a:off x="994528" y="986715"/>
            <a:ext cx="35012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Example Code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D4100-CAD9-379C-F14A-35AA84D4D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730" y="2019300"/>
            <a:ext cx="10651913" cy="50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EF6C59-6721-565E-6208-EB0CFCD82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730" y="7059300"/>
            <a:ext cx="9278603" cy="2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63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BFF9-27E7-E2CB-73ED-E4AF93357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4B677FE-F19B-807D-604A-68C52C782AA8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DFB6A77-DBC5-7B17-BE1D-4F09737DB0D8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12B8B73-65D8-93BF-B834-30B38D2CBEF8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926FC-35BB-9125-BE6F-DCF59F48B570}"/>
              </a:ext>
            </a:extLst>
          </p:cNvPr>
          <p:cNvSpPr txBox="1"/>
          <p:nvPr/>
        </p:nvSpPr>
        <p:spPr>
          <a:xfrm>
            <a:off x="994528" y="986715"/>
            <a:ext cx="35012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Example Code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E2EBCA-A187-FDFF-45E5-C8058D572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507" y="1973700"/>
            <a:ext cx="12127135" cy="70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99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EA4A-A54E-C1AD-9E4F-B17652D1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B8381BA-4E86-52E5-445A-EB61C1A7BFEB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8C50DCF-B7CA-9BFB-4B9C-998358F9ABD7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F511B6F-AA77-6256-B0C8-74A81B29C3F0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AB2056-2C7F-E13C-D01E-9DB63E6B72D3}"/>
              </a:ext>
            </a:extLst>
          </p:cNvPr>
          <p:cNvSpPr txBox="1"/>
          <p:nvPr/>
        </p:nvSpPr>
        <p:spPr>
          <a:xfrm>
            <a:off x="994528" y="986715"/>
            <a:ext cx="4415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Escape Sequences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25155-99B3-43D2-B4BF-C4157FB3A97B}"/>
              </a:ext>
            </a:extLst>
          </p:cNvPr>
          <p:cNvSpPr txBox="1"/>
          <p:nvPr/>
        </p:nvSpPr>
        <p:spPr>
          <a:xfrm>
            <a:off x="976943" y="2095500"/>
            <a:ext cx="7311272" cy="553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Special way to write characters that can't be typed directly and have special meaning. </a:t>
            </a:r>
          </a:p>
          <a:p>
            <a:pPr marL="571500" indent="-5715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It starts with a backslash (\).</a:t>
            </a:r>
          </a:p>
          <a:p>
            <a:pPr marL="571500" indent="-5715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latin typeface="+mn-lt"/>
              </a:rPr>
              <a:t>They are used inside </a:t>
            </a:r>
            <a:r>
              <a:rPr lang="en-US" sz="4000" dirty="0">
                <a:latin typeface="+mn-lt"/>
                <a:hlinkClick r:id="rId2"/>
              </a:rPr>
              <a:t>strings</a:t>
            </a:r>
            <a:r>
              <a:rPr lang="en-US" sz="4000" dirty="0">
                <a:latin typeface="+mn-lt"/>
              </a:rPr>
              <a:t> or characters.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625134-C356-B2F2-FCEB-FDB2D3CF8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581" y="1785950"/>
            <a:ext cx="7111061" cy="61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0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D5C1-5096-0F1A-7576-FA8795C0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E3374F-C804-EB05-6BA9-181B13AD16CD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68D279-077D-DB16-04EA-439599793627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73D21F7-068D-EF0B-E7C2-3FF8AF5ADDAC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04F181B-C278-5058-6F29-B946BED7AE26}"/>
              </a:ext>
            </a:extLst>
          </p:cNvPr>
          <p:cNvSpPr txBox="1"/>
          <p:nvPr/>
        </p:nvSpPr>
        <p:spPr>
          <a:xfrm>
            <a:off x="9629775" y="6996264"/>
            <a:ext cx="7610475" cy="1034962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7200" b="1" spc="655" dirty="0">
                <a:latin typeface="+mn-lt"/>
                <a:cs typeface="Century Gothic"/>
              </a:rPr>
              <a:t>Input &amp; Output</a:t>
            </a:r>
            <a:endParaRPr sz="72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C63A0A7-C61E-514B-778D-C109ECC1FB46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5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FB9AA27-6FEE-8806-EF2C-92CE0A8B344F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01F22CC-6668-CFE2-B3A5-D9364D269254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3161104-03FD-E48C-022C-F68BB3E32137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9BFB5D7-F42D-4CD9-8118-B1C306299FF0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5168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7428-EDDC-E9F6-EEE8-CB475115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764653C-CB53-F67D-DCA8-0ACA881613D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6CD8F07-15EB-D5F9-2703-2AB55FF63324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5488A0E-FFEE-242E-C8D1-20ECC5BBED6E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B09986-B4A5-7361-78A0-5E9611D47C4D}"/>
              </a:ext>
            </a:extLst>
          </p:cNvPr>
          <p:cNvSpPr txBox="1"/>
          <p:nvPr/>
        </p:nvSpPr>
        <p:spPr>
          <a:xfrm>
            <a:off x="994528" y="986715"/>
            <a:ext cx="4415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  <a:latin typeface="+mn-lt"/>
              </a:rPr>
              <a:t>Output using </a:t>
            </a:r>
            <a:r>
              <a:rPr lang="en-US" sz="4400" b="1" dirty="0" err="1">
                <a:highlight>
                  <a:srgbClr val="FFFF00"/>
                </a:highlight>
                <a:latin typeface="+mn-lt"/>
              </a:rPr>
              <a:t>cout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64FE83D-E0FC-E2FB-136F-079057F6A6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0427119"/>
              </p:ext>
            </p:extLst>
          </p:nvPr>
        </p:nvGraphicFramePr>
        <p:xfrm>
          <a:off x="3048000" y="153670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C6E58A2-34ED-DAB2-7880-E79DCF0D79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9850" b="17450"/>
          <a:stretch>
            <a:fillRect/>
          </a:stretch>
        </p:blipFill>
        <p:spPr>
          <a:xfrm>
            <a:off x="1008596" y="2324100"/>
            <a:ext cx="10922371" cy="914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Graphic 10" descr="Monitor with solid fill">
            <a:extLst>
              <a:ext uri="{FF2B5EF4-FFF2-40B4-BE49-F238E27FC236}">
                <a16:creationId xmlns:a16="http://schemas.microsoft.com/office/drawing/2014/main" id="{7FD044F4-4023-583C-20A7-9C0DB8615B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33800" y="5143500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EC401C-5F53-9AD5-BBF7-FE4450A7841E}"/>
              </a:ext>
            </a:extLst>
          </p:cNvPr>
          <p:cNvSpPr txBox="1"/>
          <p:nvPr/>
        </p:nvSpPr>
        <p:spPr>
          <a:xfrm>
            <a:off x="10134600" y="6743700"/>
            <a:ext cx="1476374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Insertion/ put to operator</a:t>
            </a:r>
            <a:endParaRPr lang="en-PK" sz="2800" dirty="0">
              <a:highlight>
                <a:srgbClr val="00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1268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4BFE-87FF-9CC0-1F80-7C66ACA1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2486185-0F44-28B3-9EB0-8453406D603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538623-05CF-0796-FBF8-87C0F0906A7D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90FD830-81E6-CD88-270C-B6C7BC06F56A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C1239-8B9C-6759-6706-3B3A2325DEEB}"/>
              </a:ext>
            </a:extLst>
          </p:cNvPr>
          <p:cNvSpPr txBox="1"/>
          <p:nvPr/>
        </p:nvSpPr>
        <p:spPr>
          <a:xfrm>
            <a:off x="994528" y="986715"/>
            <a:ext cx="4415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 err="1">
                <a:highlight>
                  <a:srgbClr val="FFFF00"/>
                </a:highlight>
                <a:latin typeface="+mn-lt"/>
              </a:rPr>
              <a:t>Setw</a:t>
            </a:r>
            <a:r>
              <a:rPr lang="en-US" sz="4400" b="1" dirty="0">
                <a:highlight>
                  <a:srgbClr val="FFFF00"/>
                </a:highlight>
                <a:latin typeface="+mn-lt"/>
              </a:rPr>
              <a:t> manipulator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B91C6B-FC05-909B-94A1-A8DFD5DC0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489" y="2781300"/>
            <a:ext cx="7956000" cy="48753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C8C2C0-FBA6-6EE1-81CD-8784244D7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866900"/>
            <a:ext cx="6239746" cy="7020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55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4CE68-A1F7-C985-B1B3-4AAEE210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F1A2F26-01B0-72F3-DF61-46C49338196B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0423642-D74A-234D-C424-CDEE6F72F26F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3D6EA1B-0978-5B42-BC9F-13655CDDF70B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79037-A3D6-7F72-2A57-E0810B300202}"/>
              </a:ext>
            </a:extLst>
          </p:cNvPr>
          <p:cNvSpPr txBox="1"/>
          <p:nvPr/>
        </p:nvSpPr>
        <p:spPr>
          <a:xfrm>
            <a:off x="994528" y="986715"/>
            <a:ext cx="4415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 err="1">
                <a:highlight>
                  <a:srgbClr val="FFFF00"/>
                </a:highlight>
                <a:latin typeface="+mn-lt"/>
              </a:rPr>
              <a:t>Setw</a:t>
            </a:r>
            <a:r>
              <a:rPr lang="en-US" sz="4400" b="1" dirty="0">
                <a:highlight>
                  <a:srgbClr val="FFFF00"/>
                </a:highlight>
                <a:latin typeface="+mn-lt"/>
              </a:rPr>
              <a:t> manipulator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DC321D-B6BE-8E2C-7183-DDE292AB61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949" r="4949"/>
          <a:stretch>
            <a:fillRect/>
          </a:stretch>
        </p:blipFill>
        <p:spPr>
          <a:xfrm>
            <a:off x="457200" y="2280838"/>
            <a:ext cx="9316750" cy="5725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B2A772-2959-0BD5-CC9A-906740BD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095" y="3541500"/>
            <a:ext cx="5227584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74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3A24-6BB4-4E73-A3BC-74BE8F07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F35D77E-7215-CAE1-86B4-E1BF8DD668DD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09C3C96-40E4-2FD5-2DF1-3089A32EDEAC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BFAC25C-47CB-CC37-6BA8-212CA0DE3F54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1403E-6F50-8566-B465-D707E68C61AA}"/>
              </a:ext>
            </a:extLst>
          </p:cNvPr>
          <p:cNvSpPr txBox="1"/>
          <p:nvPr/>
        </p:nvSpPr>
        <p:spPr>
          <a:xfrm>
            <a:off x="994528" y="986715"/>
            <a:ext cx="4415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In</a:t>
            </a:r>
            <a:r>
              <a:rPr lang="en-US" sz="4400" b="1" dirty="0">
                <a:highlight>
                  <a:srgbClr val="FFFF00"/>
                </a:highlight>
                <a:latin typeface="+mn-lt"/>
              </a:rPr>
              <a:t>put using </a:t>
            </a:r>
            <a:r>
              <a:rPr lang="en-US" sz="4400" b="1" dirty="0" err="1">
                <a:highlight>
                  <a:srgbClr val="FFFF00"/>
                </a:highlight>
                <a:latin typeface="+mn-lt"/>
              </a:rPr>
              <a:t>cin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097A21-2EEB-5D69-760E-462DAE0E4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364" y="1943100"/>
            <a:ext cx="13265993" cy="673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730D4-EC45-3349-36CF-BA89A0348873}"/>
              </a:ext>
            </a:extLst>
          </p:cNvPr>
          <p:cNvSpPr txBox="1"/>
          <p:nvPr/>
        </p:nvSpPr>
        <p:spPr>
          <a:xfrm>
            <a:off x="2819400" y="5981700"/>
            <a:ext cx="95446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input</a:t>
            </a:r>
            <a:endParaRPr lang="en-PK" sz="2800" dirty="0">
              <a:highlight>
                <a:srgbClr val="00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2308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B33C-AA52-91D5-5F3D-DBD52220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1493D07-57DE-CC7F-7EB5-9A9CFEF0904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3ACBE05-0574-3965-B6C5-2F5422B2EBB8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5B610C-61C1-9622-4D35-25AE30C8AA02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F7F22-0E02-51B2-EC67-3B983D4489A0}"/>
              </a:ext>
            </a:extLst>
          </p:cNvPr>
          <p:cNvSpPr txBox="1"/>
          <p:nvPr/>
        </p:nvSpPr>
        <p:spPr>
          <a:xfrm>
            <a:off x="994528" y="986715"/>
            <a:ext cx="4415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In</a:t>
            </a:r>
            <a:r>
              <a:rPr lang="en-US" sz="4400" b="1" dirty="0">
                <a:highlight>
                  <a:srgbClr val="FFFF00"/>
                </a:highlight>
                <a:latin typeface="+mn-lt"/>
              </a:rPr>
              <a:t>put using </a:t>
            </a:r>
            <a:r>
              <a:rPr lang="en-US" sz="4400" b="1" dirty="0" err="1">
                <a:highlight>
                  <a:srgbClr val="FFFF00"/>
                </a:highlight>
                <a:latin typeface="+mn-lt"/>
              </a:rPr>
              <a:t>cin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ACEC8C0-A9AE-334F-D460-0D836D3D95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288902"/>
              </p:ext>
            </p:extLst>
          </p:nvPr>
        </p:nvGraphicFramePr>
        <p:xfrm>
          <a:off x="2819400" y="933450"/>
          <a:ext cx="121920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08F03CC-4F75-3607-F0FC-B41C46D4EBBF}"/>
              </a:ext>
            </a:extLst>
          </p:cNvPr>
          <p:cNvSpPr txBox="1"/>
          <p:nvPr/>
        </p:nvSpPr>
        <p:spPr>
          <a:xfrm>
            <a:off x="9372600" y="6210300"/>
            <a:ext cx="2486025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highlight>
                  <a:srgbClr val="00FF00"/>
                </a:highlight>
              </a:rPr>
              <a:t>extraction/ get from operator</a:t>
            </a:r>
            <a:endParaRPr lang="en-PK" sz="2800" dirty="0">
              <a:highlight>
                <a:srgbClr val="00FF00"/>
              </a:highlight>
              <a:latin typeface="+mn-lt"/>
            </a:endParaRPr>
          </a:p>
        </p:txBody>
      </p:sp>
      <p:pic>
        <p:nvPicPr>
          <p:cNvPr id="8" name="Graphic 7" descr="Keyboard outline">
            <a:extLst>
              <a:ext uri="{FF2B5EF4-FFF2-40B4-BE49-F238E27FC236}">
                <a16:creationId xmlns:a16="http://schemas.microsoft.com/office/drawing/2014/main" id="{CA298BBF-0EF7-772B-C7AE-181C02D5F9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5200" y="4533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1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24220-D827-0545-6472-FD44D285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45DBDD-A16F-7241-FBC2-C5E0975B73BC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C0EDDFD-1E4E-FABF-49AF-B88A6E2E76C3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5360BB4-9837-87D9-27E4-138943CDCECE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1D5DC9-6246-6C74-034D-E465406D034B}"/>
              </a:ext>
            </a:extLst>
          </p:cNvPr>
          <p:cNvSpPr txBox="1"/>
          <p:nvPr/>
        </p:nvSpPr>
        <p:spPr>
          <a:xfrm>
            <a:off x="9629775" y="6996264"/>
            <a:ext cx="8353425" cy="1034962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7200" b="1" spc="655" dirty="0">
                <a:latin typeface="+mn-lt"/>
                <a:cs typeface="Century Gothic"/>
              </a:rPr>
              <a:t>Type Conversion</a:t>
            </a:r>
            <a:endParaRPr sz="72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A51E509-ECA5-FC3F-26BE-74F7BD884724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6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65314F6-B29C-533F-C9BE-BE9FC0256B97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F284D3F-769F-3273-A0FD-BCE7F2AD60B3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B7760D8-D0D3-EAE4-A53E-203609249DCC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E2F08E8-75E6-DF39-7D79-0C3FCF3586D0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8551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6A8F-2003-D47A-32E9-4B81BE02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730A144-6846-E54C-16C2-5A1207C9B44E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67BCBC3-C712-F06C-E7EC-1B70E12C5BED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E6E723E-37DF-9B6A-4127-F19A176209C8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505972-950E-42C8-0EAB-88697944116D}"/>
              </a:ext>
            </a:extLst>
          </p:cNvPr>
          <p:cNvSpPr txBox="1"/>
          <p:nvPr/>
        </p:nvSpPr>
        <p:spPr>
          <a:xfrm>
            <a:off x="994528" y="986715"/>
            <a:ext cx="67778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Automatic Type Conversion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1293-E4C2-E524-5417-D755F231D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000" y="2530790"/>
            <a:ext cx="13320000" cy="522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419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D3E7E-CDD2-8B61-FFDA-EB2E8249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F01AB71-743A-00C1-49AD-86023F0AF0EC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2ED4533-6613-89F2-3D95-05F18F950246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4298669-A812-5B9E-0ED0-C558BAF63016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5109A2-E408-96F1-073A-7CA2F8E2FD87}"/>
              </a:ext>
            </a:extLst>
          </p:cNvPr>
          <p:cNvSpPr txBox="1"/>
          <p:nvPr/>
        </p:nvSpPr>
        <p:spPr>
          <a:xfrm>
            <a:off x="994528" y="986715"/>
            <a:ext cx="4110872" cy="1446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Automatic Type Conversion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4D0B8C-444F-934A-5495-7AB06FFC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995507"/>
            <a:ext cx="9576000" cy="764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0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4FBCC-BAF1-5590-9A07-C66A47B9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51C95B4-00FA-412D-952B-E1B829D529C8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DC03C2-B8D0-DF22-379F-802229D95727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A096B3C-37BB-50D6-69B2-5C74093A6F68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4E319E-5448-B6D8-A313-FE3B98B1EC72}"/>
              </a:ext>
            </a:extLst>
          </p:cNvPr>
          <p:cNvSpPr txBox="1"/>
          <p:nvPr/>
        </p:nvSpPr>
        <p:spPr>
          <a:xfrm>
            <a:off x="994528" y="986715"/>
            <a:ext cx="70064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Automatic Type Conversion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64323C-B3D5-367E-DFE9-7834EBBEC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514" y="1742674"/>
            <a:ext cx="8661409" cy="597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97D16-1FF1-C2AC-4138-121C74C7BA6D}"/>
              </a:ext>
            </a:extLst>
          </p:cNvPr>
          <p:cNvSpPr txBox="1"/>
          <p:nvPr/>
        </p:nvSpPr>
        <p:spPr>
          <a:xfrm>
            <a:off x="973220" y="1756156"/>
            <a:ext cx="8111959" cy="738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+mn-lt"/>
              </a:rPr>
              <a:t>The arithmetic operators such as + and * like to operate on two operands of the same type.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+mn-lt"/>
              </a:rPr>
              <a:t>When two operands of different types are encountered in the same expression, the lower-type variable is converted to the type of the higher-type variable.</a:t>
            </a:r>
            <a:endParaRPr lang="en-PK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51253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2F60-3345-7690-9F31-6DDCEB64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459D1C4-09BE-A818-32E0-8FD47DED8C68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69E6C70-B5EE-4DE5-093B-17C53A178236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5852254-D550-58B2-7606-8ED8AEC0884B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3F522-3FB1-58BB-5E57-98DBCA5D7C78}"/>
              </a:ext>
            </a:extLst>
          </p:cNvPr>
          <p:cNvSpPr txBox="1"/>
          <p:nvPr/>
        </p:nvSpPr>
        <p:spPr>
          <a:xfrm>
            <a:off x="994528" y="986715"/>
            <a:ext cx="4034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Type Casting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8A9C30-88D2-1BC8-8598-AEC613E9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237" y="2019300"/>
            <a:ext cx="11595076" cy="66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835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AF47-4DA9-AABC-76CF-477239DC1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1D1DB8-821D-5DD5-E5C5-7ACBB58654A2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539F405-CA1A-5827-6023-EC7F4FBE3529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1C01496-A243-799F-56D1-16E82C698BBC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F0B2EA-1798-60E1-961D-C5E1F7AD46BB}"/>
              </a:ext>
            </a:extLst>
          </p:cNvPr>
          <p:cNvSpPr txBox="1"/>
          <p:nvPr/>
        </p:nvSpPr>
        <p:spPr>
          <a:xfrm>
            <a:off x="9629775" y="6996264"/>
            <a:ext cx="8353425" cy="1034962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7200" b="1" spc="655" dirty="0">
                <a:latin typeface="+mn-lt"/>
                <a:cs typeface="Century Gothic"/>
              </a:rPr>
              <a:t>Arithmetic Oper.</a:t>
            </a:r>
            <a:endParaRPr sz="72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39E9F43-9831-F110-CBF5-4F88D9BDF5D8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7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079ADFA-1421-4B5E-A06E-563BBB2C49D5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BE82FF0-5E99-3392-6EF7-D938020C5649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34477AC8-4766-00D5-5112-A5256BDCD278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A56DDC5-647A-7265-D67B-4DA8FE0043AC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254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C5E4-342A-35AC-6BAF-2CFC9418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A0E9C90-3D42-73C2-418E-F136BB721E27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1362959-E8EB-C875-0216-4CBB320EE1DD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E9DF10F-4659-B8AD-3AAA-DE8C9D9FE91D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597149-CE5C-FB6E-CA9C-02D0E04FC9DE}"/>
              </a:ext>
            </a:extLst>
          </p:cNvPr>
          <p:cNvSpPr txBox="1"/>
          <p:nvPr/>
        </p:nvSpPr>
        <p:spPr>
          <a:xfrm>
            <a:off x="994528" y="986715"/>
            <a:ext cx="5558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Arithmetic Operations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1026" name="Picture 2" descr="7. Arithmetic Operators in C++ (Hindi)">
            <a:extLst>
              <a:ext uri="{FF2B5EF4-FFF2-40B4-BE49-F238E27FC236}">
                <a16:creationId xmlns:a16="http://schemas.microsoft.com/office/drawing/2014/main" id="{DE4FF1D2-AFCF-0164-FA63-2C10C6CBD0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45"/>
          <a:stretch>
            <a:fillRect/>
          </a:stretch>
        </p:blipFill>
        <p:spPr bwMode="auto">
          <a:xfrm>
            <a:off x="2895600" y="2400300"/>
            <a:ext cx="121920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9773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019E-3E4A-E053-FB70-59ADE472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75261A9-3855-1F36-EE59-F21615A67D1B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D092CD2-5C46-AB96-EC3A-DC627192B256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4E7EA2D-1140-564F-D395-CAE8E4919276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BC47B-2FAA-5546-079C-FA70890E5BB7}"/>
              </a:ext>
            </a:extLst>
          </p:cNvPr>
          <p:cNvSpPr txBox="1"/>
          <p:nvPr/>
        </p:nvSpPr>
        <p:spPr>
          <a:xfrm>
            <a:off x="994528" y="986715"/>
            <a:ext cx="84542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Arithmetic Operations  Precedence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F769E-4F71-E122-FB7F-936733643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7" y="2095500"/>
            <a:ext cx="16681546" cy="66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481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42629-F57C-DA15-896A-08D1B93D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151D0E6-5ED9-FF94-3419-8F2C740FE17E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77FA848-E648-FB0D-2590-CF1C59292E66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32E2D5A-1699-EF52-CF2A-F7DFDBB3BE17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2741A7-5E3A-2ADC-09EF-D3E9275E76EA}"/>
              </a:ext>
            </a:extLst>
          </p:cNvPr>
          <p:cNvSpPr txBox="1"/>
          <p:nvPr/>
        </p:nvSpPr>
        <p:spPr>
          <a:xfrm>
            <a:off x="994528" y="986715"/>
            <a:ext cx="83780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Arithmetic Assignment Operations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8731B6-F24A-3900-EF9E-33B68573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76" y="1943100"/>
            <a:ext cx="10481597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870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88B8-4B2D-E67B-770E-1246D8C8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8B70C74-882E-1F8B-6B59-92D89E84F9D4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0BF858D-E898-8435-1E1D-572D53F2F844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F08EF7C-6DF5-B7CC-A049-B4756B08FAD1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9176A0-BD78-8C00-B409-DC25C93CD869}"/>
              </a:ext>
            </a:extLst>
          </p:cNvPr>
          <p:cNvSpPr txBox="1"/>
          <p:nvPr/>
        </p:nvSpPr>
        <p:spPr>
          <a:xfrm>
            <a:off x="994528" y="986715"/>
            <a:ext cx="83780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Arithmetic Assignment Operations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14B90C-164A-A0FA-4B8E-B73803AA4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79"/>
          <a:stretch>
            <a:fillRect/>
          </a:stretch>
        </p:blipFill>
        <p:spPr>
          <a:xfrm>
            <a:off x="994528" y="1866900"/>
            <a:ext cx="8759072" cy="7303450"/>
          </a:xfrm>
          <a:prstGeom prst="rect">
            <a:avLst/>
          </a:prstGeom>
        </p:spPr>
      </p:pic>
      <p:pic>
        <p:nvPicPr>
          <p:cNvPr id="8" name="Picture 2" descr="Classification of C++ Operators">
            <a:extLst>
              <a:ext uri="{FF2B5EF4-FFF2-40B4-BE49-F238E27FC236}">
                <a16:creationId xmlns:a16="http://schemas.microsoft.com/office/drawing/2014/main" id="{7D2933CB-B8A4-8EE1-9A6C-9D4397A00E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" t="441" r="20144" b="-441"/>
          <a:stretch>
            <a:fillRect/>
          </a:stretch>
        </p:blipFill>
        <p:spPr bwMode="auto">
          <a:xfrm>
            <a:off x="10108018" y="1866900"/>
            <a:ext cx="7701737" cy="626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0741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D7C6-7A90-35F2-4ADF-A4887E17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C83174E-F969-7A75-C83F-8118B5A6973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1DC85F0-9BA9-8A51-009E-BE234541A880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C19A7D2-BAC5-A8F4-9FF9-8580B0A79893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EE8-E1C6-9635-D367-590BE4E2F72A}"/>
              </a:ext>
            </a:extLst>
          </p:cNvPr>
          <p:cNvSpPr txBox="1"/>
          <p:nvPr/>
        </p:nvSpPr>
        <p:spPr>
          <a:xfrm>
            <a:off x="994528" y="986715"/>
            <a:ext cx="48728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Increment Operator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190D2A-AF62-FAE7-ED36-9C783999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76" y="2263500"/>
            <a:ext cx="7243176" cy="57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B5CB37-13DE-82FC-0DED-CCD0C82FE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435" y="2263500"/>
            <a:ext cx="8388000" cy="69736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1AA68E-6633-2C51-724E-0FFB568936BC}"/>
              </a:ext>
            </a:extLst>
          </p:cNvPr>
          <p:cNvSpPr txBox="1"/>
          <p:nvPr/>
        </p:nvSpPr>
        <p:spPr>
          <a:xfrm>
            <a:off x="11257999" y="1016609"/>
            <a:ext cx="4363001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Postfix and Prefix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39062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E1D7-8967-BFD1-B747-B2AC9401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56961DC-8D15-0C6B-A563-0FD3B78F2ED4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F04E429-C303-821F-51EB-5AD1BEC4CB78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1F015EE-64DC-90C6-5ADF-83E3938B2B26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C117F7-E7AF-4288-965D-27909577652A}"/>
              </a:ext>
            </a:extLst>
          </p:cNvPr>
          <p:cNvSpPr txBox="1"/>
          <p:nvPr/>
        </p:nvSpPr>
        <p:spPr>
          <a:xfrm>
            <a:off x="994528" y="986715"/>
            <a:ext cx="48728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Increment Operator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EEF1AF-ECA4-694E-FBCF-8304989005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186"/>
          <a:stretch>
            <a:fillRect/>
          </a:stretch>
        </p:blipFill>
        <p:spPr>
          <a:xfrm>
            <a:off x="1007422" y="2123654"/>
            <a:ext cx="8010790" cy="360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3D569F-FB07-5257-1D2E-A5BF804D8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447"/>
          <a:stretch>
            <a:fillRect/>
          </a:stretch>
        </p:blipFill>
        <p:spPr>
          <a:xfrm>
            <a:off x="994529" y="5690243"/>
            <a:ext cx="8023684" cy="320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5FBD58-D6FA-2CE2-519D-8D1AAB7E3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7208" y="2831100"/>
            <a:ext cx="3783357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9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4843-6013-26A8-EF97-4DD4E9437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DB5D65-FF5B-A9A6-BFD1-F80FE1968328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8C6E212-0F6E-C4F1-374A-796D3EB8B282}"/>
              </a:ext>
            </a:extLst>
          </p:cNvPr>
          <p:cNvSpPr txBox="1"/>
          <p:nvPr/>
        </p:nvSpPr>
        <p:spPr>
          <a:xfrm>
            <a:off x="9617074" y="333678"/>
            <a:ext cx="348932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35463A8-F22C-0E76-2198-E4BF0BDF0F89}"/>
              </a:ext>
            </a:extLst>
          </p:cNvPr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E95E02-30B0-3BC1-4415-E66E95ABD131}"/>
              </a:ext>
            </a:extLst>
          </p:cNvPr>
          <p:cNvSpPr txBox="1"/>
          <p:nvPr/>
        </p:nvSpPr>
        <p:spPr>
          <a:xfrm>
            <a:off x="9599489" y="7239286"/>
            <a:ext cx="8353425" cy="1089208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44"/>
              </a:spcBef>
            </a:pPr>
            <a:r>
              <a:rPr lang="en-US" sz="8800" b="1" spc="655" dirty="0">
                <a:latin typeface="+mn-lt"/>
                <a:cs typeface="Century Gothic"/>
              </a:rPr>
              <a:t>Tasks</a:t>
            </a:r>
            <a:endParaRPr sz="8800" b="1" dirty="0">
              <a:latin typeface="+mn-lt"/>
              <a:cs typeface="Century Gothic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116B091-453C-42AB-943C-7A5E7F5E4881}"/>
              </a:ext>
            </a:extLst>
          </p:cNvPr>
          <p:cNvSpPr txBox="1"/>
          <p:nvPr/>
        </p:nvSpPr>
        <p:spPr>
          <a:xfrm>
            <a:off x="899140" y="6778545"/>
            <a:ext cx="1562100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-620" dirty="0">
                <a:latin typeface="+mn-lt"/>
                <a:cs typeface="Century Gothic"/>
              </a:rPr>
              <a:t>0</a:t>
            </a:r>
            <a:r>
              <a:rPr lang="en-US" sz="10000" spc="-620" dirty="0">
                <a:latin typeface="+mn-lt"/>
                <a:cs typeface="Century Gothic"/>
              </a:rPr>
              <a:t>8</a:t>
            </a:r>
            <a:r>
              <a:rPr sz="10000" spc="-620" dirty="0">
                <a:latin typeface="+mn-lt"/>
                <a:cs typeface="Century Gothic"/>
              </a:rPr>
              <a:t>.</a:t>
            </a:r>
            <a:endParaRPr sz="10000" dirty="0">
              <a:latin typeface="+mn-lt"/>
              <a:cs typeface="Century Gothic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41D374-148F-9819-56ED-E673116615E8}"/>
              </a:ext>
            </a:extLst>
          </p:cNvPr>
          <p:cNvSpPr/>
          <p:nvPr/>
        </p:nvSpPr>
        <p:spPr>
          <a:xfrm>
            <a:off x="0" y="9353550"/>
            <a:ext cx="8678545" cy="269240"/>
          </a:xfrm>
          <a:custGeom>
            <a:avLst/>
            <a:gdLst/>
            <a:ahLst/>
            <a:cxnLst/>
            <a:rect l="l" t="t" r="r" b="b"/>
            <a:pathLst>
              <a:path w="8678545" h="269240">
                <a:moveTo>
                  <a:pt x="8678430" y="0"/>
                </a:moveTo>
                <a:lnTo>
                  <a:pt x="0" y="0"/>
                </a:lnTo>
                <a:lnTo>
                  <a:pt x="0" y="269163"/>
                </a:lnTo>
                <a:lnTo>
                  <a:pt x="8678430" y="269163"/>
                </a:lnTo>
                <a:lnTo>
                  <a:pt x="86784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936CC3A-2478-C710-A601-F0FBCE03853E}"/>
              </a:ext>
            </a:extLst>
          </p:cNvPr>
          <p:cNvSpPr/>
          <p:nvPr/>
        </p:nvSpPr>
        <p:spPr>
          <a:xfrm>
            <a:off x="14591118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08C28EF-E5D2-091F-9A77-8D8D7D25F3A4}"/>
              </a:ext>
            </a:extLst>
          </p:cNvPr>
          <p:cNvSpPr/>
          <p:nvPr/>
        </p:nvSpPr>
        <p:spPr>
          <a:xfrm>
            <a:off x="9565881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EF36949-D8AA-C712-253A-A52444C60E84}"/>
              </a:ext>
            </a:extLst>
          </p:cNvPr>
          <p:cNvSpPr/>
          <p:nvPr/>
        </p:nvSpPr>
        <p:spPr>
          <a:xfrm>
            <a:off x="17103737" y="9344025"/>
            <a:ext cx="1184275" cy="278765"/>
          </a:xfrm>
          <a:custGeom>
            <a:avLst/>
            <a:gdLst/>
            <a:ahLst/>
            <a:cxnLst/>
            <a:rect l="l" t="t" r="r" b="b"/>
            <a:pathLst>
              <a:path w="1184275" h="278765">
                <a:moveTo>
                  <a:pt x="1184262" y="0"/>
                </a:moveTo>
                <a:lnTo>
                  <a:pt x="0" y="0"/>
                </a:lnTo>
                <a:lnTo>
                  <a:pt x="0" y="278688"/>
                </a:lnTo>
                <a:lnTo>
                  <a:pt x="1184262" y="278688"/>
                </a:lnTo>
                <a:lnTo>
                  <a:pt x="1184262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0040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34510-389F-105F-1D40-CD0B41AE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0779F09-F960-B94C-FB11-47629C9F5739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3549E4-B988-4F42-847B-6D9D5893C0D8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8565E2F-7EB7-7EA8-631B-E4A3BA95AA91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30857-3EB2-7BCB-0F7B-C3E6EE26BA52}"/>
              </a:ext>
            </a:extLst>
          </p:cNvPr>
          <p:cNvSpPr txBox="1"/>
          <p:nvPr/>
        </p:nvSpPr>
        <p:spPr>
          <a:xfrm>
            <a:off x="994528" y="986715"/>
            <a:ext cx="1748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Task-1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36922-A87A-799F-E8BB-31C0CD3476F8}"/>
              </a:ext>
            </a:extLst>
          </p:cNvPr>
          <p:cNvSpPr txBox="1"/>
          <p:nvPr/>
        </p:nvSpPr>
        <p:spPr>
          <a:xfrm>
            <a:off x="973220" y="1756156"/>
            <a:ext cx="16781380" cy="461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+mn-lt"/>
              </a:rPr>
              <a:t>You can convert temperature from degrees Celsius to degrees Fahrenheit by multiplying by 9/5 and adding 32.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+mn-lt"/>
              </a:rPr>
              <a:t>Write a program that allows the user to enter a floating-point number representing degrees Celsius, and then displays the corresponding degrees Fahrenheit.</a:t>
            </a:r>
            <a:endParaRPr lang="en-PK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40810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3089-1F93-7896-F8A0-53ED6FA0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CCF4B09-0E5F-8DD7-C3B5-5DE170B05E81}"/>
              </a:ext>
            </a:extLst>
          </p:cNvPr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CEF58C1-F81B-547E-CE4E-A63868FA5D9F}"/>
              </a:ext>
            </a:extLst>
          </p:cNvPr>
          <p:cNvSpPr txBox="1"/>
          <p:nvPr/>
        </p:nvSpPr>
        <p:spPr>
          <a:xfrm>
            <a:off x="9617075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E2AA9E2-E788-2A64-2D86-223178D27176}"/>
              </a:ext>
            </a:extLst>
          </p:cNvPr>
          <p:cNvSpPr txBox="1"/>
          <p:nvPr/>
        </p:nvSpPr>
        <p:spPr>
          <a:xfrm>
            <a:off x="16100480" y="333863"/>
            <a:ext cx="16541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B4D7E-EEA6-2A01-E107-2B0A3F9CEC52}"/>
              </a:ext>
            </a:extLst>
          </p:cNvPr>
          <p:cNvSpPr txBox="1"/>
          <p:nvPr/>
        </p:nvSpPr>
        <p:spPr>
          <a:xfrm>
            <a:off x="994528" y="986715"/>
            <a:ext cx="174867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b="1" dirty="0">
                <a:highlight>
                  <a:srgbClr val="FFFF00"/>
                </a:highlight>
              </a:rPr>
              <a:t>Task-2</a:t>
            </a:r>
            <a:endParaRPr lang="en-PK" sz="44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BA88E-B84F-6A6A-07F4-85F24779504D}"/>
              </a:ext>
            </a:extLst>
          </p:cNvPr>
          <p:cNvSpPr txBox="1"/>
          <p:nvPr/>
        </p:nvSpPr>
        <p:spPr>
          <a:xfrm>
            <a:off x="973220" y="1756156"/>
            <a:ext cx="16781380" cy="553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+mn-lt"/>
              </a:rPr>
              <a:t>Write a program that generates the following output:</a:t>
            </a:r>
          </a:p>
          <a:p>
            <a:pPr algn="just">
              <a:lnSpc>
                <a:spcPct val="150000"/>
              </a:lnSpc>
            </a:pPr>
            <a:r>
              <a:rPr lang="en-US" sz="4000" b="0" i="0" u="none" strike="noStrike" baseline="0" dirty="0">
                <a:latin typeface="+mn-lt"/>
              </a:rPr>
              <a:t>	10</a:t>
            </a:r>
          </a:p>
          <a:p>
            <a:pPr algn="just">
              <a:lnSpc>
                <a:spcPct val="150000"/>
              </a:lnSpc>
            </a:pPr>
            <a:r>
              <a:rPr lang="en-US" sz="4000" b="0" i="0" u="none" strike="noStrike" baseline="0" dirty="0">
                <a:latin typeface="+mn-lt"/>
              </a:rPr>
              <a:t>	20</a:t>
            </a:r>
          </a:p>
          <a:p>
            <a:pPr algn="just">
              <a:lnSpc>
                <a:spcPct val="150000"/>
              </a:lnSpc>
            </a:pPr>
            <a:r>
              <a:rPr lang="en-US" sz="4000" b="0" i="0" u="none" strike="noStrike" baseline="0" dirty="0">
                <a:latin typeface="+mn-lt"/>
              </a:rPr>
              <a:t>	19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b="0" i="0" u="none" strike="noStrike" baseline="0" dirty="0">
                <a:latin typeface="+mn-lt"/>
              </a:rPr>
              <a:t>Use an integer constant for the 10, an arithmetic assignment operator to generate the 20, and a decrement operator to generate the 19.</a:t>
            </a:r>
            <a:endParaRPr lang="en-PK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16888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353550"/>
            <a:ext cx="8684895" cy="269240"/>
          </a:xfrm>
          <a:custGeom>
            <a:avLst/>
            <a:gdLst/>
            <a:ahLst/>
            <a:cxnLst/>
            <a:rect l="l" t="t" r="r" b="b"/>
            <a:pathLst>
              <a:path w="8684895" h="269240">
                <a:moveTo>
                  <a:pt x="8684793" y="0"/>
                </a:moveTo>
                <a:lnTo>
                  <a:pt x="0" y="0"/>
                </a:lnTo>
                <a:lnTo>
                  <a:pt x="0" y="269163"/>
                </a:lnTo>
                <a:lnTo>
                  <a:pt x="8684793" y="269163"/>
                </a:lnTo>
                <a:lnTo>
                  <a:pt x="86847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597495" y="9344025"/>
            <a:ext cx="2291080" cy="278765"/>
          </a:xfrm>
          <a:custGeom>
            <a:avLst/>
            <a:gdLst/>
            <a:ahLst/>
            <a:cxnLst/>
            <a:rect l="l" t="t" r="r" b="b"/>
            <a:pathLst>
              <a:path w="2291080" h="278765">
                <a:moveTo>
                  <a:pt x="2290762" y="0"/>
                </a:moveTo>
                <a:lnTo>
                  <a:pt x="0" y="0"/>
                </a:lnTo>
                <a:lnTo>
                  <a:pt x="0" y="278688"/>
                </a:lnTo>
                <a:lnTo>
                  <a:pt x="2290762" y="278688"/>
                </a:lnTo>
                <a:lnTo>
                  <a:pt x="2290762" y="0"/>
                </a:lnTo>
                <a:close/>
              </a:path>
            </a:pathLst>
          </a:custGeom>
          <a:solidFill>
            <a:srgbClr val="749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72243" y="9353550"/>
            <a:ext cx="4581525" cy="269240"/>
          </a:xfrm>
          <a:custGeom>
            <a:avLst/>
            <a:gdLst/>
            <a:ahLst/>
            <a:cxnLst/>
            <a:rect l="l" t="t" r="r" b="b"/>
            <a:pathLst>
              <a:path w="4581525" h="269240">
                <a:moveTo>
                  <a:pt x="4581525" y="0"/>
                </a:moveTo>
                <a:lnTo>
                  <a:pt x="0" y="0"/>
                </a:lnTo>
                <a:lnTo>
                  <a:pt x="0" y="269163"/>
                </a:lnTo>
                <a:lnTo>
                  <a:pt x="4581525" y="269163"/>
                </a:lnTo>
                <a:lnTo>
                  <a:pt x="4581525" y="0"/>
                </a:lnTo>
                <a:close/>
              </a:path>
            </a:pathLst>
          </a:custGeom>
          <a:solidFill>
            <a:srgbClr val="2B5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110099" y="9344025"/>
            <a:ext cx="1177925" cy="278765"/>
          </a:xfrm>
          <a:custGeom>
            <a:avLst/>
            <a:gdLst/>
            <a:ahLst/>
            <a:cxnLst/>
            <a:rect l="l" t="t" r="r" b="b"/>
            <a:pathLst>
              <a:path w="1177925" h="278765">
                <a:moveTo>
                  <a:pt x="1177899" y="0"/>
                </a:moveTo>
                <a:lnTo>
                  <a:pt x="0" y="0"/>
                </a:lnTo>
                <a:lnTo>
                  <a:pt x="0" y="278688"/>
                </a:lnTo>
                <a:lnTo>
                  <a:pt x="1177899" y="278688"/>
                </a:lnTo>
                <a:lnTo>
                  <a:pt x="1177899" y="0"/>
                </a:lnTo>
                <a:close/>
              </a:path>
            </a:pathLst>
          </a:custGeom>
          <a:solidFill>
            <a:srgbClr val="A5CA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629775" y="923925"/>
            <a:ext cx="8658225" cy="19050"/>
          </a:xfrm>
          <a:custGeom>
            <a:avLst/>
            <a:gdLst/>
            <a:ahLst/>
            <a:cxnLst/>
            <a:rect l="l" t="t" r="r" b="b"/>
            <a:pathLst>
              <a:path w="8658225" h="19050">
                <a:moveTo>
                  <a:pt x="8658225" y="0"/>
                </a:moveTo>
                <a:lnTo>
                  <a:pt x="0" y="0"/>
                </a:lnTo>
                <a:lnTo>
                  <a:pt x="0" y="19050"/>
                </a:lnTo>
                <a:lnTo>
                  <a:pt x="8658225" y="19050"/>
                </a:lnTo>
                <a:lnTo>
                  <a:pt x="86582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617074" y="333678"/>
            <a:ext cx="34893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Century"/>
                <a:cs typeface="Century"/>
              </a:rPr>
              <a:t>Object Oriented Programing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100480" y="333863"/>
            <a:ext cx="1730320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spc="-10" dirty="0">
                <a:latin typeface="Century"/>
                <a:cs typeface="Century"/>
              </a:rPr>
              <a:t>Spring 2026</a:t>
            </a:r>
            <a:endParaRPr lang="en-US" sz="20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17075" y="4490471"/>
            <a:ext cx="574167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0" b="1" spc="-25" dirty="0">
                <a:latin typeface="Lucida Sans"/>
                <a:cs typeface="Lucida Sans"/>
              </a:rPr>
              <a:t>Thank</a:t>
            </a:r>
            <a:endParaRPr sz="140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17075" y="6144011"/>
            <a:ext cx="3945890" cy="215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0" b="1" spc="-735" dirty="0">
                <a:latin typeface="Lucida Sans"/>
                <a:cs typeface="Lucida Sans"/>
              </a:rPr>
              <a:t>Y</a:t>
            </a:r>
            <a:r>
              <a:rPr sz="14000" b="1" spc="140" dirty="0">
                <a:latin typeface="Lucida Sans"/>
                <a:cs typeface="Lucida Sans"/>
              </a:rPr>
              <a:t>ou!</a:t>
            </a:r>
            <a:endParaRPr sz="1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1462</TotalTime>
  <Words>1047</Words>
  <Application>Microsoft Office PowerPoint</Application>
  <PresentationFormat>Custom</PresentationFormat>
  <Paragraphs>251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Century</vt:lpstr>
      <vt:lpstr>Century Gothic</vt:lpstr>
      <vt:lpstr>Lucida Sans</vt:lpstr>
      <vt:lpstr>Office Theme</vt:lpstr>
      <vt:lpstr>Object Oriented Programing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Shaban Satti</dc:creator>
  <cp:lastModifiedBy>Shaban Ghias Satti</cp:lastModifiedBy>
  <cp:revision>370</cp:revision>
  <dcterms:created xsi:type="dcterms:W3CDTF">2026-01-16T17:54:24Z</dcterms:created>
  <dcterms:modified xsi:type="dcterms:W3CDTF">2026-02-09T06:14:29Z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ionClient">
    <vt:lpwstr>authoring</vt:lpwstr>
  </property>
  <property fmtid="{D5CDD505-2E9C-101B-9397-08002B2CF9AE}" pid="4" name="Creator">
    <vt:lpwstr>Adobe Express</vt:lpwstr>
  </property>
  <property fmtid="{D5CDD505-2E9C-101B-9397-08002B2CF9AE}" pid="5" name="LastSaved">
    <vt:filetime>2026-01-16T00:00:00Z</vt:filetime>
  </property>
  <property fmtid="{D5CDD505-2E9C-101B-9397-08002B2CF9AE}" pid="6" name="Producer">
    <vt:lpwstr>Adobe Express</vt:lpwstr>
  </property>
</Properties>
</file>